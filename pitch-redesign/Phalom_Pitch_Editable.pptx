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ສະບາຍດີ ຄະນະກຳມະການ ແລະ ທຸກທ່ານ. ພວກເຮົາແມ່ນທີມ ພັດລົມ (Phalom) — ນັກສຶກສາ 4 ຄົນ ຈາກສາຍ ວິສະວະກຳຊອບແວ, ປັນຍາປະດິດ ແລະ ທັນຕະແພດ. ມື້ນີ້ພວກເຮົາຈະນຳສະເໜີແນວທາງຊ່ວຍແມ່ຄ້ານ້ອຍ ຮັບເງິນຈາກນັກທ່ອງທ່ຽວຕ່າງປະເທດ — ພາຍໃຕ້ແນວຄິດ: ນັກທ່ອງທ່ຽວຈ່າຍແບບບ້ານເຂົາ — ແມ່ຄ້າຮັບເງິນກີບແບບບ້ານເຮົາ.</a:t>
            </a:r>
          </a:p>
          <a:p/>
          <a:p>
            <a:r>
              <a:t>(ຢຸດສັ້ນໆ ຫຼັງຄຳຂວັນ)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ລອງນຶກພາບນັກທ່ອງທ່ຽວຈີນຄົນໜຶ່ງ ຍ່າງຢູ່ຕະຫຼາດມືດ. ລາວເຫັນຜ້າທໍທີ່ມັກ ຢາກຊື້. ແຕ່ລາວບໍ່ມີເງິນກີບ — ລາວມີແຕ່ Alipay ໃນມືຖື. ແມ່ຄ້າຮັບບໍ່ໄດ້. ລາວຈຶ່ງຍ່າງໜີ.</a:t>
            </a:r>
          </a:p>
          <a:p/>
          <a:p>
            <a:r>
              <a:t>ເລື່ອງນີ້ເກີດຂຶ້ນທຸກມື້. ປີ 2025 ລາວມີນັກທ່ອງທ່ຽວຕ່າງປະເທດ 4.58 ລ້ານຄົນ — ແລະ 82% ມາຈາກ ໄທ, ຈີນ ແລະ ຫວຽດນາມ — ປະເທດທີ່ຄົນຈ່າຍເງິນດ້ວຍ QR ເປັນປົກກະຕິ.</a:t>
            </a:r>
          </a:p>
          <a:p/>
          <a:p>
            <a:r>
              <a:t>ແຕ່ຮ້ານຂອງທີ່ລະນຶກ ແລະ ອາຫານທາງ ສ່ວນຫຼາຍຮັບໄດ້ແຕ່ເງິນສົດ ຫຼື QR ບັນຊີສ່ວນຕົວ. ຜົນຄື: ລູກຄ້າຢາກຊື້ — ແຕ່ຈ່າຍບໍ່ໄດ້ — ແມ່ຄ້າເສຍຍອດຂາຍ.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ເປັນຫຍັງຈຶ່ງເກີດ? ພວກເຮົາຖາມ 'ເປັນຫຍັງ' ຊ້ຳໆ: ແມ່ຄ້າເສຍຍອດຂາຍ — ເພາະນັກທ່ອງທ່ຽວຈ່າຍດ້ວຍແອັບຂອງຕົນບໍ່ໄດ້. ເປັນຫຍັງ? ເພາະ QR ຂອງແມ່ຄ້າເປັນບັນຊີສ່ວນຕົວ ທີ່ບໍ່ໄດ້ສະໝັກຮັບເງິນຕ່າງປະເທດ.</a:t>
            </a:r>
          </a:p>
          <a:p/>
          <a:p>
            <a:r>
              <a:t>ເປັນຫຍັງບໍ່ສະໝັກ? ເພາະຊ່ອງທາງແຍກກັນ ແລະ ຂໍ້ມູນຫາຍາກ. ພວກເຮົາລອງສອບຖາມທະນາຄານ 4 ແຫ່ງທາງອອນລາຍ — 2 ແຫ່ງບໍ່ຕອບ, 2 ແຫ່ງໃຫ້ໄປຖາມທີ່ສາຂາ. ຖ້າພວກເຮົາຍັງຫາຍາກ — ແມ່ຄ້າທີ່ຂາຍທັງວັນ ກໍ່ຍິ່ງຍາກກວ່າ.</a:t>
            </a:r>
          </a:p>
          <a:p/>
          <a:p>
            <a:r>
              <a:t>ແລະ ເປັນຫຍັງບໍ່ມີໃຜຊ່ວຍ? ເພາະການລົງໄປສອນແມ່ຄ້າທີລະຄົນ ບໍ່ຄຸ້ມທຶນ ສຳລັບທະນາຄານ.</a:t>
            </a:r>
          </a:p>
          <a:p/>
          <a:p>
            <a:r>
              <a:t>ສະນັ້ນ ຕົ້ນເຫດແທ້ບໍ່ແມ່ນເທັກໂນໂລຊີ — ເສັ້ນທາງເງິນມີແລ້ວ ແຕ່ຂາດ 'ສະພານ' ທີ່ພາແມ່ຄ້ານ້ອຍໄປເຖິງ. (ເວົ້າຊ້າ ແລະ ໜັກແໜ້ນ)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ຕະຫຼາດນີ້ໃຫຍ່ປານໃດ? TAM ຫຼື ຕະຫຼາດທັງໝົດ: ຕາມລາຍງານທາງການຂອງກົມພັດທະນາການທ່ອງທ່ຽວ, ປີ 2024 ນັກທ່ອງທ່ຽວຕ່າງປະເທດໃຊ້ຈ່າຍໃນລາວ ປະມານ 1,422 ລ້ານໂດລາ.</a:t>
            </a:r>
          </a:p>
          <a:p/>
          <a:p>
            <a:r>
              <a:t>ພວກເຮົາເລືອກສະເພາະນັກທ່ອງທ່ຽວ ໄທ, ຈີນ, ຫວຽດ ໃນ 3 ເຂດທ່ອງທ່ຽວ ແລະ ເງິນທີ່ໃຊ້ຢູ່ຮ້ານນ້ອຍ — ໄດ້ SAM ຫຼື ສ່ວນທີ່ເຂົ້າເຖິງໄດ້ ປະມານ 44 ລ້ານໂດລາຕໍ່ປີ.</a:t>
            </a:r>
          </a:p>
          <a:p/>
          <a:p>
            <a:r>
              <a:t>SOM ຫຼື ສ່ວນແບ່ງທີ່ເຮົາຈະໄດ້ ໃນປີທຳອິດ: ດ້ວຍ 700 ຮ້ານ ເງິນທີ່ແລ່ນຜ່ານລະບົບຂອງເຮົາຈະຢູ່ທີ່ ປະມານ 3.5 ລ້ານໂດລາ — ພຽງ 8% ຂອງຕະຫຼາດ. ແລະ ຕະຫຼາດກຳລັງເຕີບໂຕ: ປີ 2025 ນັກທ່ອງທ່ຽວເພີ່ມ 11%.</a:t>
            </a:r>
          </a:p>
          <a:p/>
          <a:p>
            <a:r>
              <a:t>(ຊີ້ກ້ອນ: ກ້ອນທັງໝົດຄືຕະຫຼາດທັງໝົດ, ກ້ອນສີຄຳ 50 ກ້ອນຄືສ່ວນທີ່ເຮົາເຂົ້າເຖິງ, ກ້ອນສີບົວ 4 ກ້ອນຄືເປົ້າໝາຍປີທຳອິດ — ຂະໜາດຕາມຈິງ)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ທາງແກ້ຂອງພວກເຮົາແມ່ນ ແອັບສຳລັບແມ່ຄ້າ ທີ່ເຊື່ອມກັບເສັ້ນທາງເງິນທີ່ມີຢູ່ແລ້ວ — ທະນາຄານລາວ ແລະ ລະບົບຮັບເງິນ ເຊັ່ນ PhaJay. ພວກເຮົາບໍ່ສ້າງລະບົບເງິນໃໝ່ ແລະ ບໍ່ແຕະເງິນຂອງແມ່ຄ້າ.</a:t>
            </a:r>
          </a:p>
          <a:p/>
          <a:p>
            <a:r>
              <a:t>ພວກເຮົາໃຫ້ຄຸນຄ່າ 3 ຊັ້ນ: ໜຶ່ງ — ພາເຂົ້າລະບົບ: ລົງທະບຽນຜ່ານມືຖື, ໄດ້ປ້າຍດຽວ ຮັບໄດ້ທຸກແອັບ. ສອງ — ຊ່ວຍຂາຍ: ສຽງແຈ້ງເງິນເຂົ້າເປັນພາສາລາວ, ລາຄາເປັນກີບ ອ່ານງ່າຍ, ແປເມນູອັດຕະໂນມັດ. ສາມ — ພາລູກຄ້າມາ: ແຜນທີ່ຮ້ານສຳລັບນັກທ່ອງທ່ຽວ ຜ່ານໂຮງແຮມ ແລະ ທົວ.</a:t>
            </a:r>
          </a:p>
          <a:p/>
          <a:p>
            <a:r>
              <a:t>ນັກທ່ອງທ່ຽວບໍ່ຕ້ອງໂຫຼດແອັບໃໝ່ — ແມ່ຄ້າໄດ້ເງິນກີບ.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ຂະບວນການງ່າຍໆ: ແມ່ຄ້າລົງທະບຽນກັບພວກເຮົາ — ໄດ້ປ້າຍ QR. ນັກທ່ອງທ່ຽວເຫັນໂລໂກ້ແອັບທີ່ຄຸ້ນເຄີຍ — ສະແກນດ້ວຍ PromptPay, Alipay ຫຼື ແອັບຂອງຕົນ.</a:t>
            </a:r>
          </a:p>
          <a:p/>
          <a:p>
            <a:r>
              <a:t>ເງິນແລ່ນຜ່ານ PhaJay — ຄູ່ຮ່ວມຂອງພວກເຮົາ ເຊິ່ງເປັນລະບົບຮັບເງິນອອນລາຍຂອງລາວ ທີ່ຮັບ Alipay ແລະ WeChat Pay ໄດ້ — ແລ້ວເຂົ້າບັນຊີທະນາຄານຂອງແມ່ຄ້າ ເປັນເງິນກີບໂດຍກົງ. ແລະ ແອັບຂອງເຮົາປະກາດ: 'ໄດ້ຮັບເງິນ 50,000 ກີບ' — ແມ່ຄ້າຍື່ນສິນຄ້າໄດ້ທັນທີ ບໍ່ຕ້ອງເບິ່ງມືຖື ແລະ ບໍ່ຖືກຫຼອກດ້ວຍສະລິບປອມ.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ມີໃຜເຮັດແບບນີ້ແລ້ວບໍ? LOCA Pay ໃຫ້ນັກທ່ອງທ່ຽວຈ່າຍ QR ໄດ້ — ແຕ່ຕ້ອງໂຫຼດແອັບ ແລະ ຢືນຢັນຕົວຕົນກ່ອນ. PhaJay ເປັນລະບົບຮັບເງິນທີ່ດີ — ແຕ່ເປັນເຄື່ອງມືສຳລັບຄົນຂຽນໂປຣແກຣມ ແມ່ຄ້າຂາຍທາງໃຊ້ເອງບໍ່ໄດ້. ທະນາຄານມີເສັ້ນທາງ — ແຕ່ບໍ່ລົງໄປຫາແມ່ຄ້າ.</a:t>
            </a:r>
          </a:p>
          <a:p/>
          <a:p>
            <a:r>
              <a:t>ພວກເຮົາເບິ່ງທະນາຄານ ແລະ PhaJay ເປັນຄູ່ຮ່ວມ ບໍ່ແມ່ນສັດຕູ. ຄູ່ແຂ່ງແທ້ຂອງພວກເຮົາຄື ນິໄສໃຊ້ເງິນສົດ.</a:t>
            </a:r>
          </a:p>
          <a:p/>
          <a:p>
            <a:r>
              <a:t>(ຊີ້ຫໍຄອຍ: ຜ້າ 100,000 ກີບ ຜ່ານ LOCA Pay ລູກຄ້າຈ່າຍ 108,000)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ຂໍສາທິດໃຫ້ເບິ່ງ. [ເປີດແອັບແມ່ຄ້າ] ນີ້ຄືໜ້າແອັບຂອງແມ່ຄ້າ — ເຫັນຍອດຂາຍມື້ນີ້ ແຍກຕາມສັນຊາດລູກຄ້າ.</a:t>
            </a:r>
          </a:p>
          <a:p/>
          <a:p>
            <a:r>
              <a:t>[ກົດຮັບເງິນ, ໃສ່ 85,000 ກີບ] ແມ່ຄ້າໃສ່ລາຄາເປັນກີບ — ລູກຄ້າກໍ່ເຫັນລາຄາເປັນກີບ ແລະ ຈ່າຍດ້ວຍແອັບຂອງຕົນ, ທະນາຄານຂອງລູກຄ້າແລກເງິນໃຫ້ເອງ.</a:t>
            </a:r>
          </a:p>
          <a:p/>
          <a:p>
            <a:r>
              <a:t>[ໃຫ້ສະມາຊິກສະແກນ] ລູກຄ້າສະແກນ... [ສຽງ] — 'ໄດ້ຮັບເງິນ 85,000 ກີບ'.</a:t>
            </a:r>
          </a:p>
          <a:p/>
          <a:p>
            <a:r>
              <a:t>[ໃນມືຖືນັກທ່ອງທ່ຽວ] ແອັບນັກທ່ອງທ່ຽວ ສະແດງເປັນພາສາຂອງລູກຄ້າ ເຊັ່ນ ພາສາຈີນ, ແລະ ໄດ້ໃບຮັບເງິນທັນທີ.</a:t>
            </a:r>
          </a:p>
          <a:p/>
          <a:p>
            <a:r>
              <a:t>ມີ 2 ແອັບ ເປີດໃຊ້ໄດ້ແທ້ແລ້ວ — ທ່ານກຳມະການສະແກນ QR ຊ້າຍ ເພື່ອລອງແອັບແມ່ຄ້າ (ກົດ ລອງໃຊ້ຮ້ານຕົວຢ່າງ), ແລະ QR ຂວາ ເພື່ອລອງຈ່າຍແບບນັກທ່ອງທ່ຽວ.</a:t>
            </a:r>
          </a:p>
          <a:p/>
          <a:p>
            <a:r>
              <a:t>(ຊ້ອມຫຼາຍຮອບ! ກຽມວິດີໂອບັນທຶກໜ້າຈໍໄວ້ສຳຮອງ)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ສຳລັບແມ່ຄ້າ — ກ່ອນ: ລູກຄ້າບໍ່ມີກີບກໍ່ຍ່າງໜີ, ຕ້ອງຄິດອັດຕາເອງ, ບໍ່ແນ່ໃຈວ່າເງິນເຂົ້າແທ້.</a:t>
            </a:r>
          </a:p>
          <a:p/>
          <a:p>
            <a:r>
              <a:t>ຫຼັງ: ລູກຄ້າສະແກນໄດ້ທັນທີ, ໄດ້ເງິນກີບເຂົ້າບັນຊີ, ໄດ້ຍິນສຽງຢືນຢັນ — ແລະ ມີລູກຄ້າໃໝ່ມາຈາກແຜນທີ່.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ພວກເຮົາຫາລາຍໄດ້ແນວໃດ? ທຸກຄັ້ງທີ່ລູກຄ້າຈ່າຍ ທະນາຄານ ຫຼື PhaJay ເກັບຄ່າທຳນຽມນ້ອຍໆຢູ່ແລ້ວ. ພວກເຮົາພາຮ້ານຄ້າໃໝ່ມາໃຫ້ — ຈຶ່ງເຈລະຈາຂໍສ່ວນແບ່ງຈາກຄ່າທຳນຽມນັ້ນ. ແມ່ຄ້າບໍ່ຈ່າຍເພີ່ມໃຫ້ພວກເຮົາ.</a:t>
            </a:r>
          </a:p>
          <a:p/>
          <a:p>
            <a:r>
              <a:t>ທຸກຝ່າຍໄດ້ປະໂຫຍດ: ຄູ່ຮ່ວມໄດ້ຮ້ານຄ້າໃໝ່ ໂດຍບໍ່ຕ້ອງລົງທຶນລົງພື້ນທີ່; ແມ່ຄ້າໄດ້ຍອດຂາຍເພີ່ມ; ພວກເຮົາໄດ້ລາຍໄດ້ຕາມຈຳນວນຮ້ານ. ໃນອະນາຄົດ ຈະມີລາຍໄດ້ເສີມຈາກຟັງຊັນພິເສດ ແລະ ໂຄສະນາໃນແຜນທີ່ຮ້ານ.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ແຜນງານ 4 ໄຕມາດ. ໄຕມາດ 1: ສ້າງແອັບລຸ້ນທຳອິດ, ເຊັນສັນຍາຮ່ວມມື ແລະ ນຳຮ່ອງ 100 ຮ້ານໃນວຽງຈັນ.</a:t>
            </a:r>
          </a:p>
          <a:p/>
          <a:p>
            <a:r>
              <a:t>ໄຕມາດ 2: ເພີ່ມແປເມນູ ແລະ ແຜນທີ່ຮ້ານ — ຂະຫຍາຍທົ່ວວຽງຈັນ ເປັນ 250 ຮ້ານ.</a:t>
            </a:r>
          </a:p>
          <a:p/>
          <a:p>
            <a:r>
              <a:t>ໄຕມາດ 3: ເປີດຫຼວງພະບາງ ແລະ ວັງວຽງ — 400 ຮ້ານ. ໄຕມາດ 4: ເຕັມ 3 ເຂດ — ເປົ້າໝາຍ 700 ຮ້ານ.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ທຶນເລີ່ມຕົ້ນ 40 ລ້ານກີບ ແບ່ງເປັນ 2 ສ່ວນ. ສ່ວນທີ 1 ປະມານ 21 ລ້ານ ໃຊ້ 3 ເດືອນທຳອິດ: ປ້າຍ QR ເປີດ 100 ຮ້ານ 6 ລ້ານ, ໂຄສະນາ 4 ລ້ານ, ເຊີເວີ ຈົດທະບຽນ ແລະ ເດີນທາງ ຢ່າງລະ 3 ລ້ານ, ແລະ ສຳຮອງ 10%. ທີມຊວນຮ້ານເອງ ແລະ ໃຊ້ມືຖືຂອງທີມເອງ ຈຶ່ງບໍ່ມີຄ່າພະນັກງານ.</a:t>
            </a:r>
          </a:p>
          <a:p/>
          <a:p>
            <a:r>
              <a:t>ສ່ວນທີ 2 ປະມານ 19 ລ້ານ ກັນໄວ້ ລໍຖ້າລາຍຮັບ. ລາຍຮັບ ຄິດແບບນີ້: ຮ້ານສະເລ່ຍ × 3 ເດືອນ × 40,500 ກີບ. ລາຍຈ່າຍ: ຄ່າເປີດຮ້ານໃໝ່ + ຄ່າດຳເນີນງານ + 10% ສຳຮອງ. ໄຕມາດ 1 ແລະ 2 ຍັງຂາດທຶນ ສະສົມສູງສຸດ 16.7 ລ້ານ, ເງິນກັນໄວ້ 19 ລ້ານ ພໍ. ແຕ່ໄຕມາດ 3 ລາຍຮັບ 39.5 ລ້ານ ເກີນລາຍຈ່າຍ 36.3 ລ້ານ — ຈາກນັ້ນ Phalom ຢືນດ້ວຍລາຍຮັບຂອງຕົນເອງ.</a:t>
            </a:r>
          </a:p>
          <a:p/>
          <a:p>
            <a:r>
              <a:t>ປີທຳອິດ ລາຍຮັບ 133.7 ລ້ານ, ລາຍຈ່າຍ 124.3 ລ້ານ, ກຳໄລ 9.3 ລ້ານ. ລາຍລະອຽດ ແລະ ສູດ ຢູ່ໃນ Excel. ຕົວເລກເປັນການຄາດຄະເນ — ຈະຢືນຢັນໃນເດືອນທຳອິດ.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ຄວາມສ່ຽງສູງສຸດ 2 ຢ່າງ: ໜຶ່ງ — ຄູ່ຮ່ວມບໍ່ຮ່ວມມື: ພວກເຮົາມີຫຼາຍທາງເລືອກ — ທະນາຄານລາວຫຼາຍແຫ່ງ ແລະ PhaJay — ບໍ່ຂຶ້ນກັບແຫ່ງດຽວ. ສອງ — ແມ່ຄ້າບໍ່ຍອມປ່ຽນ: ພວກເຮົາບໍ່ເກັບຄ່າບໍລິການຈາກແມ່ຄ້າ ແລະ ຈະສະແດງຍອດຂາຍທີ່ເພີ່ມຂຶ້ນຈິງ.</a:t>
            </a:r>
          </a:p>
          <a:p/>
          <a:p>
            <a:r>
              <a:t>ຄວາມສ່ຽງອື່ນ ເຊັ່ນ ຖ້າ Alipay ຕ້ອງໃຊ້ QR ແຍກ — ພວກເຮົາລວມໄວ້ໃນປ້າຍດຽວ ແລະ ໃຫ້ແອັບເລືອກໃຫ້ອັດຕະໂນມັດ.</a:t>
            </a:r>
          </a:p>
          <a:p/>
          <a:p>
            <a:r>
              <a:t>ຈຸດແຂງຂອງພວກເຮົາ: ໃຊ້ເສັ້ນທາງທີ່ມີແລ້ວ, ຕົ້ນທຶນຕ່ຳ, ແລະ ພວກເຮົາລົງພື້ນທີ່ເອງ ຮູ້ຈັກແມ່ຄ້າແທ້ — ສິ່ງນີ້ຄົນອື່ນເຮັດຕາມໄດ້ຍາກ.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ຖ້າໂຄງການສຳເລັດ ໃຜໄດ້ຫຍັງ? ໜຶ່ງ, ແມ່ຄ້າ 700 ຮ້ານ ຮັບເງິນນັກທ່ອງທ່ຽວໄດ້ ບໍ່ເສຍລູກຄ້າ ແລະ ມີປະຫວັດການຂາຍ ໃຊ້ຂໍສິນເຊື່ອໄດ້.</a:t>
            </a:r>
          </a:p>
          <a:p/>
          <a:p>
            <a:r>
              <a:t>ສອງ, ນັກທ່ອງທ່ຽວຈ່າຍດ້ວຍແອັບບ້ານເຂົາ ປະມານ 1.28 ລ້ານຄັ້ງຕໍ່ປີ — ຄື 700 ຮ້ານ × 5 ຄັ້ງ × 365 ມື້. ສາມ, ປະເທດລາວ: ເງິນປະມານ 78 ຕື້ກີບຕໍ່ປີ ເຂົ້າທະນາຄານລາວ ແທນທີ່ຈະເປັນເງິນສົດ.</a:t>
            </a:r>
          </a:p>
          <a:p/>
          <a:p>
            <a:r>
              <a:t>ນອກຈາກນັ້ນ ແມ່ຄ້າສ່ວນຫຼາຍເປັນແມ່ຍິງ ແລະ ຊາວໜຸ່ມມີວຽກເປັນພະນັກງານຊວນຮ້ານ. ຕໍ່ໄປຂະຫຍາຍໄປ ລົດຕຸກຕຸກ, ເຮືອນພັກ, ສະຖານີລົດໄຟລາວ-ຈີນ ແລະ ນັກທ່ອງທ່ຽວເກົາຫຼີ.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ເຮົາວັດຜົນງານດ້ວຍ 6 ຕົວເລກ. ໜຶ່ງ: ຈຳນວນຮ້ານ — ໄຕມາດ 1 ມີ 100, ໄຕມາດ 2 ມີ 250, ໄຕມາດ 3 ມີ 400, ໄຕມາດ 4 ມີ 700.</a:t>
            </a:r>
          </a:p>
          <a:p/>
          <a:p>
            <a:r>
              <a:t>ສອງ: ຮ້ານທີ່ຍັງໃຊ້ຢູ່ຫຼັງ 3 ເດືອນ ບໍ່ຕ່ຳກວ່າ 70%. ສາມ: ແຕ່ລະຮ້ານຮັບເງິນຕ່າງປະເທດ ບໍ່ຕ່ຳກວ່າ 5 ຄັ້ງຕໍ່ມື້.</a:t>
            </a:r>
          </a:p>
          <a:p/>
          <a:p>
            <a:r>
              <a:t>ສີ່: ຍອດຂາຍຕໍ່ຮ້ານ ປະມານ 9 ລ້ານກີບຕໍ່ເດືອນ — 5 ຄັ້ງ × 30 ມື້ × ປະມານ 61,500 ກີບ. ຫ້າ: ລາຍໄດ້ຂອງທີມ ປະມານ 40,500 ກີບ ຕໍ່ຮ້ານ ຕໍ່ເດືອນ — 9 ລ້ານ × 1.5% × 30%. ຫົກ: ໄຕມາດ 3 ຫຼື ເດືອນ 7–9 ລາຍຮັບເກີນລາຍຈ່າຍ — 39.5 ລ້ານ ຕໍ່ 36.3 ລ້ານ.</a:t>
            </a:r>
          </a:p>
          <a:p/>
          <a:p>
            <a:r>
              <a:t>ຖ້າຕົວເລກໃດບໍ່ຕາມເປົ້າ ເຮົາຮູ້ທັນທີ ແລະ ແກ້ໄຂໄດ້.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ສະຫຼຸບ: Phalom ເຮັດໃຫ້ແມ່ຄ້ານ້ອຍ ຮັບເງິນນັກທ່ອງທ່ຽວໄດ້ ດ້ວຍ QR ດຽວ ແລະ ໄດ້ເງິນກີບເຂົ້າບັນຊີ.</a:t>
            </a:r>
          </a:p>
          <a:p/>
          <a:p>
            <a:r>
              <a:t>ເພື່ອໃຫ້ເກີດຂຶ້ນຈິງ ພວກເຮົາຕ້ອງການ: ການແນະນຳຕໍ່ທະນາຄານ ແລະ PhaJay, ທຶນເລີ່ມຕົ້ນ 40 ລ້ານກີບ ເພື່ອເປີດ 100 ຮ້ານທຳອິດ ແລະ ພາເຮົາໄປຮອດໄຕມາດ 3 ທີ່ລາຍຮັບພໍຈ່າຍເອງ, ແລະ ການຮ່ວມມືຈາກຄະນະຕະຫຼາດ ແລະ ພະແນກທ່ອງທ່ຽວ.</a:t>
            </a:r>
          </a:p>
          <a:p/>
          <a:p>
            <a:r>
              <a:t>ນັກທ່ອງທ່ຽວຈ່າຍແບບບ້ານເຂົາ — ແມ່ຄ້າຮັບເງິນກີບແບບບ້ານເຮົາ. ຂອບໃຈ — ພວກເຮົາພ້ອມຕອບຄຳຖາມ.</a:t>
            </a:r>
          </a:p>
          <a:p/>
          <a:p>
            <a:r>
              <a:t>(ປິດດ້ວຍຄຳຂວັນດຽວກັບຕອນເປີດ)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ສຳຮອງ — ເປີດເມື່ອກຳມະການຖາມວ່າຂໍ້ມູນມາຈາກໃສ.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84200"/>
            <a:ext cx="705544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ໂຈດທີ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2944" y="584200"/>
            <a:ext cx="2009394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ການແຂ່ງຂັນ ທຸລະກິດນະວັດຕະກຳ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2611504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ຮັບເງິນຕ່າງປະເທດຍຸ້ງຍາກ ສຳລັບຮ້ານຄ້ານ້ອຍ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03300"/>
            <a:ext cx="5391352" cy="1752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0" b="1" i="0" spc="-632">
                <a:solidFill>
                  <a:srgbClr val="FFF3D6"/>
                </a:solidFill>
                <a:latin typeface="Bricolage Grotesque"/>
                <a:ea typeface="Bricolage Grotesque"/>
                <a:cs typeface="Bricolage Grotesque"/>
              </a:rPr>
              <a:t>Phalom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569170"/>
            <a:ext cx="5618630" cy="311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2A8D8"/>
                </a:solidFill>
                <a:latin typeface="Noto Sans Lao Looped"/>
                <a:ea typeface="Noto Sans Lao Looped"/>
                <a:cs typeface="Noto Sans Lao Looped"/>
              </a:rPr>
              <a:t>ທີມ ພັດລົມ · </a:t>
            </a:r>
            <a:r>
              <a:rPr sz="15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ແອັບຂອງແມ່ຄ້າ</a:t>
            </a:r>
            <a:r>
              <a:rPr sz="1500" b="1" i="0">
                <a:solidFill>
                  <a:srgbClr val="A2A8D8"/>
                </a:solidFill>
                <a:latin typeface="Noto Sans Lao Looped"/>
                <a:ea typeface="Noto Sans Lao Looped"/>
                <a:cs typeface="Noto Sans Lao Looped"/>
              </a:rPr>
              <a:t> — ຮັບເງິນນັກທ່ອງທ່ຽວ ເປັນເງິນກີບ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00970"/>
            <a:ext cx="4700301" cy="527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ນັກທ່ອງທ່ຽວຈ່າຍແບບບ້ານເຂົາ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479700"/>
            <a:ext cx="4523386" cy="527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ແມ່ຄ້າຮັບເງິນກີບແບບບ້ານເຮົາ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250" y="4225131"/>
            <a:ext cx="764579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PromptPay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329" y="4225131"/>
            <a:ext cx="464343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Alipay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8173" y="4225131"/>
            <a:ext cx="818653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WeChat 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4327" y="4225131"/>
            <a:ext cx="669230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UnionPay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1057" y="4225131"/>
            <a:ext cx="500955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VietQR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9513" y="4225131"/>
            <a:ext cx="579040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→ ເງິນກີບ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50" y="5057775"/>
            <a:ext cx="1224903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QR ດຽວ · ຮັບໄດ້ທຸກຊາດ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862835"/>
            <a:ext cx="1392281" cy="222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ທ້າວ ແສງຕາວັນ ຫຼວງພິບູນ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87864"/>
            <a:ext cx="1963316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ວິສະວະກຳຊອບແວ · Westbridge Institute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3450" y="5862835"/>
            <a:ext cx="1523761" cy="222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ທ້າວ ເພັດມີໄຊ ພົມມະເກສອນ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3450" y="6087864"/>
            <a:ext cx="2466093" cy="3342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ປັນຍາປະດິດ · ຄະນະວິທະຍາສາດທຳມະຊາດ, ມະຫາວິທະຍາໄລແຫ່ງຊາດ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4900" y="5862835"/>
            <a:ext cx="1516260" cy="222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ທ້າວ ສີສົມພອນ ລັດສະຄຸນໄຊ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4900" y="6087864"/>
            <a:ext cx="2459128" cy="3342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ທັນຕະແພດ · ຄະນະແພດສາດ, ມະຫາວິທະຍາໄລ ວິທະຍາສາດສຸຂະພາບ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6350" y="5862835"/>
            <a:ext cx="1527619" cy="222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ທ້າວ ເຈດສະດາ ພົມມະໂວຫານ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6350" y="6087864"/>
            <a:ext cx="1963316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ວິສະວະກຳຊອບແວ · Westbridge Institute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7557" y="6394450"/>
            <a:ext cx="415528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ໜ້າປົກ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01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442118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ບັນຫາ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8116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5768006" cy="635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ນັກທ່ອງທ່ຽວ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ຢາກຊື້</a:t>
            </a: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 ແຕ່ຈ່າຍບໍ່ໄດ້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714500"/>
            <a:ext cx="4123158" cy="1524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0" b="1" i="0" spc="-30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4.58</a:t>
            </a:r>
            <a:r>
              <a:rPr sz="28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ລ້ານຄົນ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67050"/>
            <a:ext cx="3597771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ນັກທ່ອງທ່ຽວຕ່າງປະເທດ ປີ 2025 · </a:t>
            </a:r>
            <a:r>
              <a:rPr sz="1250" b="0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+11%</a:t>
            </a: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ທຽບປີ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444875"/>
            <a:ext cx="1880913" cy="704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00" b="1" i="0" spc="-138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82.3</a:t>
            </a:r>
            <a:r>
              <a:rPr sz="4600" b="1" i="0" spc="-138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0586" y="3800475"/>
            <a:ext cx="3423427" cy="5048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ມາຈາກ ໄທ, ຈີນ, ຫວຽດນາມ — ປະເທດທີ່ຈ່າຍດ້ວຍ QR ເປັນປົກກະຕິ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403725"/>
            <a:ext cx="23693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ໄທ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1021" y="4436665"/>
            <a:ext cx="751978" cy="165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1,484,319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647505"/>
            <a:ext cx="254099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ຈີນ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1021" y="4680446"/>
            <a:ext cx="751978" cy="165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1,157,278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91285"/>
            <a:ext cx="66020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ຫວຽດນາມ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1021" y="4924226"/>
            <a:ext cx="751978" cy="165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1,129,109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135066"/>
            <a:ext cx="348753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ອື່ນໆ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5321" y="5168007"/>
            <a:ext cx="637678" cy="165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A2A8D8"/>
                </a:solidFill>
                <a:latin typeface="Bricolage Grotesque"/>
                <a:ea typeface="Bricolage Grotesque"/>
                <a:cs typeface="Bricolage Grotesque"/>
              </a:rPr>
              <a:t>810,003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1000" y="5676900"/>
            <a:ext cx="149919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0" y="5829300"/>
            <a:ext cx="1131093" cy="222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ເຫັນຜ້າທໍທີ່ມັກ ຢາກຊື້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975" y="5676900"/>
            <a:ext cx="149919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975" y="5829300"/>
            <a:ext cx="1114821" cy="222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ບໍ່ມີກີບ ມີແຕ່ Alipay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4950" y="5676900"/>
            <a:ext cx="149919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4950" y="5829300"/>
            <a:ext cx="1088925" cy="4222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ຮ້ານຮັບແຕ່ເງິນສົດ ຫຼື QR ສ່ວນຕົວ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21925" y="5676900"/>
            <a:ext cx="149919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21925" y="5829300"/>
            <a:ext cx="1160561" cy="222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ຍ່າງໜີ · ເສຍຍອດຂາຍ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5921" y="1712595"/>
            <a:ext cx="846137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6F8CFF"/>
                </a:solidFill>
                <a:latin typeface="Bricolage Grotesque"/>
                <a:ea typeface="Bricolage Grotesque"/>
                <a:cs typeface="Bricolage Grotesque"/>
              </a:rPr>
              <a:t>32.4%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9850" y="1930400"/>
            <a:ext cx="846137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FF5A4E"/>
                </a:solidFill>
                <a:latin typeface="Bricolage Grotesque"/>
                <a:ea typeface="Bricolage Grotesque"/>
                <a:cs typeface="Bricolage Grotesque"/>
              </a:rPr>
              <a:t>25.3%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2181" y="2125979"/>
            <a:ext cx="846137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2FD0B5"/>
                </a:solidFill>
                <a:latin typeface="Bricolage Grotesque"/>
                <a:ea typeface="Bricolage Grotesque"/>
                <a:cs typeface="Bricolage Grotesque"/>
              </a:rPr>
              <a:t>24.6%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5291" y="2296160"/>
            <a:ext cx="846137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6B72AD"/>
                </a:solidFill>
                <a:latin typeface="Bricolage Grotesque"/>
                <a:ea typeface="Bricolage Grotesque"/>
                <a:cs typeface="Bricolage Grotesque"/>
              </a:rPr>
              <a:t>17.7%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3400" y="831850"/>
            <a:ext cx="3650599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1 ກ້ອນ ≈ 2,863 ນັກທ່ອງທ່ຽວ · 1,600 ກ້ອນ = 4,580,709 ຄົນ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6350000"/>
            <a:ext cx="4705230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ແຫຼ່ງ: ກະຊວງຖະແຫຼງຂ່າວ ວັດທະນະທຳ ແລະ ທ່ອງທ່ຽວ ຜ່ານ KPL (01/2026) · ລວມ 4,580,709 ຄົນ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6032" y="6394450"/>
            <a:ext cx="387052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ບັນຫາ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02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2417123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ສາເຫດ · ຖາມ “ເປັນຫຍັງ” 4 ເທື່ອ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2975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5911703" cy="1154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ເສັ້ນທາງເງິນມີແລ້ວ</a:t>
            </a:r>
          </a:p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ແຕ່ຂາດ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ສະພານ</a:t>
            </a: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ໄປຫາແມ່ຄ້ານ້ອຍ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50" y="2307133"/>
            <a:ext cx="241796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ຜົນ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7550" y="2247900"/>
            <a:ext cx="1209472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ແມ່ຄ້າເສຍຍອດຂາຍ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050" y="2829421"/>
            <a:ext cx="596007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ເປັນຫຍັງ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7550" y="2770187"/>
            <a:ext cx="246170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ນັກທ່ອງທ່ຽວຈ່າຍດ້ວຍແອັບຂອງຕົນບໍ່ໄດ້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050" y="3351708"/>
            <a:ext cx="596007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ເປັນຫຍັງ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7550" y="3292475"/>
            <a:ext cx="3901237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QR ຂອງແມ່ຄ້າເປັນບັນຊີສ່ວນຕົວ ບໍ່ໄດ້ສະໝັກຮັບເງິນຕ່າງປະເທດ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050" y="3873996"/>
            <a:ext cx="596007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ເປັນຫຍັງ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7550" y="3814762"/>
            <a:ext cx="184673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ຊ່ອງທາງແຍກກັນ ຂໍ້ມູນຫາຍາກ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050" y="4396283"/>
            <a:ext cx="596007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ເປັນຫຍັງ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7550" y="4337050"/>
            <a:ext cx="2947439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ລົງສອນແມ່ຄ້າທີລະຄົນ ບໍ່ຄຸ້ມທຶນສຳລັບທະນາຄານ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050" y="4932362"/>
            <a:ext cx="565249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ຕົ້ນເຫດແທ້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7550" y="4859337"/>
            <a:ext cx="4110192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ບໍ່ແມ່ນເທັກໂນໂລຊີ — ຂາດຄົນພາແມ່ຄ້ານ້ອຍໄປເຖິງ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0" y="933450"/>
            <a:ext cx="659507" cy="1149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7500" b="1" i="0" spc="-225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0407" y="1081087"/>
            <a:ext cx="2812744" cy="568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ທະນາຄານ ທີ່ພວກເຮົາສອບຖາມ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ທາງອອນລາຍ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0407" y="1633537"/>
            <a:ext cx="1992891" cy="279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 spc="-51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2</a:t>
            </a: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ບໍ່ຕອບ · </a:t>
            </a:r>
            <a:r>
              <a:rPr sz="1700" b="1" i="0" spc="-51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2</a:t>
            </a: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ໃຫ້ໄປຖາມທີ່ສາຂາ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3310" y="4215169"/>
            <a:ext cx="168321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ຂາດສະພານ</a:t>
            </a:r>
            <a:r>
              <a:rPr sz="11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 — ລູກຄ້າຈ່າຍບໍ່ໄດ້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09868" y="3349625"/>
            <a:ext cx="597792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ແມ່ຄ້ານ້ອຍ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1650" y="5448300"/>
            <a:ext cx="1075233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07/2024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1650" y="5746750"/>
            <a:ext cx="1451109" cy="365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ແອັບທະນາຄານໄທ ສະແກນ QR ລາວໄດ້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7583" y="5448300"/>
            <a:ext cx="1075233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12/2024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7583" y="5746750"/>
            <a:ext cx="1426464" cy="365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ບັດ UnionPay ຈີນ ຈ່າຍ QR ລາວໄດ້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3517" y="5448300"/>
            <a:ext cx="1075233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 spc="-6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01/2025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3517" y="5746750"/>
            <a:ext cx="1407925" cy="365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ແອັບຫວຽດ ສະແກນ QR ລາວໄດ້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6350000"/>
            <a:ext cx="7639383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ແຫຼ່ງ: Bank of Thailand (03/04/2024) · Tourism Laos (17/07/2024, 17/01/2025) · KPL (09/01/2025) · ສອບຖາມທະນາຄານ ຕຸລາ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8705" y="6394450"/>
            <a:ext cx="434379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ສາເຫດ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03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956865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ຂະໜາດຕະຫຼາດ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12863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6590645" cy="635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ຂະໜາດຕະຫຼາດ 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TAM · SAM · SOM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53270"/>
            <a:ext cx="809128" cy="393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740620"/>
            <a:ext cx="746224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ຕະຫຼາດທັງໝົດ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0900" y="1822450"/>
            <a:ext cx="3811440" cy="1035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6800" b="1" i="0" spc="-204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1,422</a:t>
            </a:r>
            <a:r>
              <a:rPr sz="23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ລ້ານໂດລາ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0900" y="2777430"/>
            <a:ext cx="323665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ເງິນທີ່ນັກທ່ອງທ່ຽວຕ່າງປະເທດໃຊ້ໃນລາວ ປີ 2024</a:t>
            </a: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ຕົວເລກລັດ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94285"/>
            <a:ext cx="854670" cy="393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881635"/>
            <a:ext cx="832147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ສ່ວນທີ່ເຂົ້າເຖິງໄດ້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0900" y="3125985"/>
            <a:ext cx="3058346" cy="850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600" b="1" i="0" spc="-168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≈ </a:t>
            </a:r>
            <a:r>
              <a:rPr sz="5600" b="1" i="0" spc="-168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44</a:t>
            </a:r>
            <a:r>
              <a:rPr sz="2100" b="1" i="0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ລ້ານໂດລາ/ປີ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0900" y="3918446"/>
            <a:ext cx="346629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ສະເພາະ ໄທ ຈີນ ຫວຽດ · 3 ເມືອງທ່ອງທ່ຽວ · ຮ້ານນ້ອຍ</a:t>
            </a: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ຄາດຄະເນ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43821"/>
            <a:ext cx="860921" cy="393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931171"/>
            <a:ext cx="972442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ສ່ວນແບ່ງທີ່ເຮົາຈະໄດ້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0900" y="4279701"/>
            <a:ext cx="2556105" cy="730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800" b="1" i="0" spc="-144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≈ </a:t>
            </a:r>
            <a:r>
              <a:rPr sz="4800" b="1" i="0" spc="-144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3.5</a:t>
            </a:r>
            <a:r>
              <a:rPr sz="1900" b="1" i="0">
                <a:solidFill>
                  <a:srgbClr val="EC4F86"/>
                </a:solidFill>
                <a:latin typeface="Noto Sans Lao Looped"/>
                <a:ea typeface="Noto Sans Lao Looped"/>
                <a:cs typeface="Noto Sans Lao Looped"/>
              </a:rPr>
              <a:t>ລ້ານໂດລາ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0900" y="4967982"/>
            <a:ext cx="3246298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ເງິນທີ່ຈ່າຍຜ່ານ 700 ຮ້ານ · 8% ຂອງສ່ວນທີ່ເຂົ້າເຖິງ</a:t>
            </a: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ຄາດຄະເນ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2866" y="2940724"/>
            <a:ext cx="1162446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TAM · 1,600 ກ້ອນ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7403" y="4537114"/>
            <a:ext cx="967382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SAM · 50 ກ້ອນ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9533" y="5829339"/>
            <a:ext cx="900013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SOM · 4 ກ້ອນ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5000" y="5327650"/>
            <a:ext cx="1315450" cy="546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1" i="0" spc="-108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+11%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7309" y="5562600"/>
            <a:ext cx="1268944" cy="5048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ນັກທ່ອງທ່ຽວ 2025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4.12 → 4.58 ລ້ານ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7400" y="1911350"/>
            <a:ext cx="2293786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1 ກ້ອນ ≈ 0.89 ລ້ານໂດລາ (ຂະໜາດຕາມຈິງ)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5000" y="2222500"/>
            <a:ext cx="4664082" cy="4660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ວິທີຄິດ: </a:t>
            </a:r>
            <a:r>
              <a:rPr sz="1100" b="0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1,422</a:t>
            </a: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× 80.5% ໄທ ຈີນ ຫວຽດ × ~55% 3 ເມືອງ × ~7% ຮ້ານນ້ອຍ ≈ </a:t>
            </a:r>
            <a:r>
              <a:rPr sz="1100" b="0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44</a:t>
            </a:r>
          </a:p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ປີທຳອິດ: </a:t>
            </a:r>
            <a:r>
              <a:rPr sz="1100" b="0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700</a:t>
            </a: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ຮ້ານ × ມື້ລະ 5 ລູກຄ້າ × 365 ມື້ × ~61,500 ກີບ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6350000"/>
            <a:ext cx="8252638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ແຫຼ່ງ: ກົມພັດທະນາການທ່ອງທ່ຽວ, ລາຍງານສະຖິຕິການທ່ອງທ່ຽວ 2024 (tdd.gov.la) · KPL (01/2026) · 55%, 7% ແລະ 61,500 ກີບ ເປັນການຄາດຄະເນ ຈະກວດຄືນຕອນທົດລອງ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1157" y="6394450"/>
            <a:ext cx="821928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ຂະໜາດຕະຫຼາດ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04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466725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ວິທີແກ້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2722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3973460" cy="1154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ແອັບສຳລັບແມ່ຄ້າ ເທິງ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ເສັ້ນທາງເງິນທີ່ມີແລ້ວ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29817"/>
            <a:ext cx="5928848" cy="279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ໃຊ້ທະນາຄານລາວ ແລະ ລະບົບຮັບເງິນທີ່ມີຢູ່ແລ້ວ — ບໍ່ສ້າງລະບົບເງິນໃໝ່ ບໍ່ແຕະເງິນຂອງແມ່ຄ້າ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305050"/>
            <a:ext cx="235247" cy="4889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8D97FF"/>
                </a:solidFill>
                <a:latin typeface="Bricolage Grotesque"/>
                <a:ea typeface="Bricolage Grotesque"/>
                <a:cs typeface="Bricolage Grotesq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4300" y="2317750"/>
            <a:ext cx="1308806" cy="349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ພາເຂົ້າລະບົບ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4300" y="2666305"/>
            <a:ext cx="3052345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ລົງທະບຽນຜ່ານມືຖື · ໄດ້ປ້າຍ QR ດຽວ ຮັບໄດ້ທຸກແອັບ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962473"/>
            <a:ext cx="338038" cy="4889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4300" y="2975173"/>
            <a:ext cx="926207" cy="349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ຊ່ວຍຂາຍ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4300" y="3323728"/>
            <a:ext cx="4004750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ສຽງແຈ້ງເງິນເຂົ້າພາສາລາວ · ລາຄາເປັນກີບ ອ່ານງ່າຍ · ແປເມນູອັດຕະໂນມັດ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619896"/>
            <a:ext cx="337244" cy="4889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4300" y="3632596"/>
            <a:ext cx="1257264" cy="349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ພາລູກຄ້າມາ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4300" y="3981152"/>
            <a:ext cx="2710410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ແຜນທີ່ຮ້ານ 5 ພາສາ ແຈກຜ່ານໂຮງແຮມ ແລະ ທົວ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972050"/>
            <a:ext cx="507305" cy="838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500" b="1" i="0" spc="-165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753100"/>
            <a:ext cx="1837836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ແອັບໃໝ່ ທີ່ນັກທ່ອງທ່ຽວຕ້ອງໂຫຼດ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533" y="4972050"/>
            <a:ext cx="507305" cy="838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500" b="1" i="0" spc="-165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4533" y="5753100"/>
            <a:ext cx="3678459" cy="4311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ປ້າຍ QR ຮັບ PromptPay · Alipay · WeChat · UnionPay · VietQR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7067" y="4972050"/>
            <a:ext cx="1090017" cy="838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500" b="1" i="0" spc="-165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0 </a:t>
            </a:r>
            <a:r>
              <a:rPr sz="2200" b="1" i="0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ກີບ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7067" y="5753100"/>
            <a:ext cx="213069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ທີ່ທີມຖືໄວ້ — ເງິນເຂົ້າບັນຊີແມ່ຄ້າໂດຍກົງ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3860" y="4714914"/>
            <a:ext cx="919559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D97FF"/>
                </a:solidFill>
                <a:latin typeface="Noto Sans Lao"/>
                <a:ea typeface="Noto Sans Lao"/>
                <a:cs typeface="Noto Sans Lao"/>
              </a:rPr>
              <a:t>1 · ພາເຂົ້າລະບົບ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0071" y="3959264"/>
            <a:ext cx="750986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2 · ຊ່ວຍຂາຍ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9192" y="3138844"/>
            <a:ext cx="884535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3 · ພາລູກຄ້າມາ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5891" y="6394450"/>
            <a:ext cx="407193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ວິທີແກ້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05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801885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ວິທີເຮັດວຽກ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7883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4561963" cy="1154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ສະແກນດ້ວຍແອັບຂອງຕົນ</a:t>
            </a:r>
          </a:p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ເງິນກີບ</a:t>
            </a: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ເຂົ້າບັນຊີແມ່ຄ້າ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29817"/>
            <a:ext cx="4900362" cy="279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ເງິນຜ່ານ </a:t>
            </a:r>
            <a:r>
              <a:rPr sz="1350" b="1" i="0">
                <a:solidFill>
                  <a:srgbClr val="35C58F"/>
                </a:solidFill>
                <a:latin typeface="Noto Sans Lao"/>
                <a:ea typeface="Noto Sans Lao"/>
                <a:cs typeface="Noto Sans Lao"/>
              </a:rPr>
              <a:t>PhaJay</a:t>
            </a:r>
            <a:r>
              <a:rPr sz="13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ຄູ່ຮ່ວມຂອງເຮົາ ເຂົ້າບັນຊີແມ່ຄ້າໂດຍກົງ. ທີມເຮົາບໍ່ແຕະເງິນ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6500" y="2564407"/>
            <a:ext cx="2099405" cy="311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6251A"/>
                </a:solidFill>
                <a:latin typeface="Noto Sans Lao Looped"/>
                <a:ea typeface="Noto Sans Lao Looped"/>
                <a:cs typeface="Noto Sans Lao Looped"/>
              </a:rPr>
              <a:t>“ໄດ້ຮັບເງິນ 50,000 ກີບ”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0790" y="1334174"/>
            <a:ext cx="10668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F8CFF"/>
                </a:solidFill>
                <a:latin typeface="Noto Sans Lao"/>
                <a:ea typeface="Noto Sans Lao"/>
                <a:cs typeface="Noto Sans Lao"/>
              </a:rPr>
              <a:t>PromptPay 🇹🇭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0076" y="2482254"/>
            <a:ext cx="2240208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5A4E"/>
                </a:solidFill>
                <a:latin typeface="Noto Sans Lao"/>
                <a:ea typeface="Noto Sans Lao"/>
                <a:cs typeface="Noto Sans Lao"/>
              </a:rPr>
              <a:t>Alipay · WeChat · UnionPay 🇨🇳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2126" y="3598584"/>
            <a:ext cx="777478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D0B5"/>
                </a:solidFill>
                <a:latin typeface="Noto Sans Lao"/>
                <a:ea typeface="Noto Sans Lao"/>
                <a:cs typeface="Noto Sans Lao"/>
              </a:rPr>
              <a:t>VietQR 🇻🇳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1030" y="1390689"/>
            <a:ext cx="1041400" cy="336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2200" b="1" i="0" spc="-22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PhaJay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4903" y="1714539"/>
            <a:ext cx="653553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ຄູ່ຮ່ວມຮັບເງິນ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1708" y="4041893"/>
            <a:ext cx="1871483" cy="332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ຮັບ Alipay · WeChat · QR ຂ້າມແດນ</a:t>
            </a:r>
          </a:p>
          <a:p>
            <a:pPr algn="ctr">
              <a:lnSpc>
                <a:spcPct val="130000"/>
              </a:lnSpc>
            </a:pPr>
            <a:r>
              <a:rPr sz="9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→ ສົ່ງເຂົ້າທະນາຄານລາວ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47215" y="2058709"/>
            <a:ext cx="1119088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ບັນຊີແມ່ຄ້າ · ເງິນກີບ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775200"/>
            <a:ext cx="309562" cy="444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900" b="1" i="0" spc="-87">
                <a:solidFill>
                  <a:srgbClr val="8D97FF"/>
                </a:solidFill>
                <a:latin typeface="Bricolage Grotesque"/>
                <a:ea typeface="Bricolage Grotesque"/>
                <a:cs typeface="Bricolage Grotesque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201840"/>
            <a:ext cx="923925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ລົງທະບຽນ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492650"/>
            <a:ext cx="2025788" cy="222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ແມ່ຄ້າສະໝັກຜ່ານມືຖື ໄດ້ປ້າຍ QR ດຽວ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3925" y="4775200"/>
            <a:ext cx="309562" cy="444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900" b="1" i="0" spc="-87">
                <a:solidFill>
                  <a:srgbClr val="6F8CFF"/>
                </a:solidFill>
                <a:latin typeface="Bricolage Grotesque"/>
                <a:ea typeface="Bricolage Grotesque"/>
                <a:cs typeface="Bricolage Grotesq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3925" y="5201840"/>
            <a:ext cx="688181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ສະແກນ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3925" y="5492650"/>
            <a:ext cx="2636686" cy="4289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ນັກທ່ອງທ່ຽວເຫັນໂລໂກ້ທີ່ຄຸ້ນເຄີຍ ສະແກນດ້ວຍແອັບຂອງຕົນ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5850" y="4775200"/>
            <a:ext cx="309562" cy="444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900" b="1" i="0" spc="-87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5850" y="5201840"/>
            <a:ext cx="1110952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ຜ່ານ PhaJay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5850" y="5492650"/>
            <a:ext cx="2764309" cy="4289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PhaJay ຮັບເງິນ ແລ້ວສົ່ງເຂົ້າບັນຊີທະນາຄານຂອງແມ່ຄ້າ ເປັນກີບ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7775" y="4775200"/>
            <a:ext cx="309562" cy="444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900" b="1" i="0" spc="-87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7775" y="5201840"/>
            <a:ext cx="871636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ໄດ້ຍິນສຽງ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7775" y="5492650"/>
            <a:ext cx="2643759" cy="4289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ຍື່ນສິນຄ້າໄດ້ທັນທີ ບໍ່ຕ້ອງເບິ່ງມືຖື ບໍ່ຖືກຫຼອກດ້ວຍສະລິບປອມ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2621" y="6394450"/>
            <a:ext cx="690463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ວິທີເຮັດວຽກ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06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420588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ຄູ່ແຂ່ງ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6585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6564284" cy="1154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ທະນາຄານ ແລະ PhaJay ແມ່ນ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ຄູ່ຮ່ວມ</a:t>
            </a:r>
          </a:p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ຄູ່ແຂ່ງແທ້ຄື ນິໄສໃຊ້ເງິນສົດ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8973" y="2127250"/>
            <a:ext cx="420191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ວິທີເກົ່າ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9319" y="2127250"/>
            <a:ext cx="1701212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ແອັບຈ່າຍ QR ສຳລັບນັກທ່ອງທ່ຽວ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029" y="2381250"/>
            <a:ext cx="45412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A2A8D8"/>
                </a:solidFill>
                <a:latin typeface="Bricolage Grotesque"/>
                <a:ea typeface="Bricolage Grotesque"/>
                <a:cs typeface="Bricolage Grotesque"/>
              </a:rPr>
              <a:t>ເງິນສົດ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627" y="2381250"/>
            <a:ext cx="648493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A2A8D8"/>
                </a:solidFill>
                <a:latin typeface="Bricolage Grotesque"/>
                <a:ea typeface="Bricolage Grotesque"/>
                <a:cs typeface="Bricolage Grotesque"/>
              </a:rPr>
              <a:t>ທະນາຄານ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1193" y="2381250"/>
            <a:ext cx="648493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A2A8D8"/>
                </a:solidFill>
                <a:latin typeface="Bricolage Grotesque"/>
                <a:ea typeface="Bricolage Grotesque"/>
                <a:cs typeface="Bricolage Grotesque"/>
              </a:rPr>
              <a:t>LOCA 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8517" y="2381250"/>
            <a:ext cx="533995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Phalom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2717700"/>
            <a:ext cx="1781579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ນັກທ່ອງທ່ຽວບໍ່ຕ້ອງໂຫຼດແອັບໃໝ່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4110" y="2722860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842" y="2722860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2310" y="2722860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2483" y="2722860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3137991"/>
            <a:ext cx="122351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ລົງໄປຫາແມ່ຄ້າຂາຍທາງ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6455" y="3143150"/>
            <a:ext cx="181371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72AD"/>
                </a:solidFill>
                <a:latin typeface="Bricolage Grotesque"/>
                <a:ea typeface="Bricolage Grotesque"/>
                <a:cs typeface="Bricolage Grotesque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43" y="3143150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2310" y="3143150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2483" y="3143150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3558282"/>
            <a:ext cx="203436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ແມ່ຄ້າໃຊ້ເອງໄດ້ ບໍ່ຕ້ອງຂຽນໂປຣແກຣມ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4110" y="3563441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842" y="3563441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2409" y="3563441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2483" y="3563441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3978572"/>
            <a:ext cx="2342007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ເຄື່ອງມືຊ່ວຍຂາຍ (ແປເມນູ, ສຽງແຈ້ງເງິນເຂົ້າ)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33911" y="3983732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43" y="3983732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2310" y="3983732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2483" y="3983732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4398863"/>
            <a:ext cx="142957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ພານັກທ່ອງທ່ຽວມາຫາຮ້ານ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33911" y="4404022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43" y="4404022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2310" y="4404022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2483" y="4404022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800" y="4819153"/>
            <a:ext cx="156073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ບໍ່ສ່ຽງເງິນປອມ / ສະລິບປອມ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33911" y="4824313"/>
            <a:ext cx="246360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D6399"/>
                </a:solidFill>
                <a:latin typeface="Bricolage Grotesque"/>
                <a:ea typeface="Bricolage Grotesque"/>
                <a:cs typeface="Bricolage Grotesque"/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842" y="4824313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2409" y="4824313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2483" y="4824313"/>
            <a:ext cx="246062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5000" y="927100"/>
            <a:ext cx="1941778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ຊື້ຜ້າ 100,000 ກີບ · ລູກຄ້າຈ່າຍທັງໝົດ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6311" y="2014299"/>
            <a:ext cx="1709356" cy="438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2000" b="1" i="0" spc="-60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108,000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LOCA Pay · ເສຍເພີ່ມ 8,000 ກີບ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40945" y="2402284"/>
            <a:ext cx="1102419" cy="438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2000" b="1" i="0" spc="-6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100,000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Phalom · ບໍ່ເສຍເພີ່ມ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7400" y="5721350"/>
            <a:ext cx="119578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1 ກ້ອນ = 1,000 ກີບ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000" y="6350000"/>
            <a:ext cx="5903880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ແຫຼ່ງ: loca.la/locapay (ຕ້ອງໂຫຼດແອັບ LOCA ແລະ ຜູກບັດ; 3% + 5,000 LAK ຕໍ່ຄັ້ງ, ກວດ 10/2026) · phajay.co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03693" y="6394450"/>
            <a:ext cx="369391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ຄູ່ແຂ່ງ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07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1397638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ຕົ້ນແບບ · ສາທິດສົດ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9007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2536388" cy="1154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2 ແອັບ</a:t>
            </a:r>
          </a:p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ທີ່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ກົດໃຊ້ໄດ້ແທ້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74267"/>
            <a:ext cx="1054992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ແມ່ຄ້າໃສ່ລາຄາເປັນກີບ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11982"/>
            <a:ext cx="2662511" cy="762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1" i="0" spc="-15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85,000</a:t>
            </a:r>
            <a:r>
              <a:rPr sz="22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ກີບ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950" y="3062882"/>
            <a:ext cx="2424410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0" i="0" spc="17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ລູກຄ້າສະແກນ ດ້ວຍແອັບຂອງຕົນ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950" y="3354982"/>
            <a:ext cx="1984533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0" i="0" spc="17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ແມ່ຄ້າໄດ້ 85,000 ກີບ ເຕັມ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666132"/>
            <a:ext cx="1717607" cy="3778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ລາຄາເປັນເງິນກີບເທົ່ານັ້ນ ຕາມລະບຽບ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ທະນາຄານຂອງລູກຄ້າແລກເງິນໃຫ້ເອງ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" y="4269382"/>
            <a:ext cx="1337095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300"/>
                </a:solidFill>
                <a:latin typeface="Noto Sans Lao Looped"/>
                <a:ea typeface="Noto Sans Lao Looped"/>
                <a:cs typeface="Noto Sans Lao Looped"/>
              </a:rPr>
              <a:t>ເປີດແອັບແມ່ຄ້າ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5201" y="4326532"/>
            <a:ext cx="619720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ລອງເວີຊັນ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000" y="5653682"/>
            <a:ext cx="571599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ແອັບແມ່ຄ້າ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341" y="5653682"/>
            <a:ext cx="912117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ແອັບນັກທ່ອງທ່ຽວ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6211" y="4935808"/>
            <a:ext cx="202988" cy="1283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5242" y="5046785"/>
            <a:ext cx="678320" cy="25270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ຍອດຂາຍມື້ນີ້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5023" y="4694219"/>
            <a:ext cx="211323" cy="1291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569" y="4829577"/>
            <a:ext cx="968056" cy="22506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QR ລາຄາເປັນກີບ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050" y="4692650"/>
            <a:ext cx="203299" cy="120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4090" y="4819650"/>
            <a:ext cx="899219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ນັກທ່ອງທ່ຽວຈ່າຍ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581" y="4754232"/>
            <a:ext cx="202896" cy="1246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7965" y="4870053"/>
            <a:ext cx="808330" cy="2378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ແມ່ຄ້າໄດ້ຮັບເງິນ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2741" y="4942940"/>
            <a:ext cx="203186" cy="1283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79875" y="5058204"/>
            <a:ext cx="532799" cy="24265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ໃບຮັບເງິນ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6350000"/>
            <a:ext cx="3851195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ໜ້າຈໍຈາກຕົ້ນແບບຈິງ · ຊື່ຮ້ານ ແລະ ຍອດຂາຍເປັນຂໍ້ມູນຕົວຢ່າງ · ການຈ່າຍເງິນເປັນໂໝດສາທິດ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93461" y="6394450"/>
            <a:ext cx="479623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ຕົ້ນແບບ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08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1866661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ເສັ້ນທາງຜູ້ໃຊ້ · ກ່ອນ / ຫຼັງ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3288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3739217" cy="635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ຊີວິດແມ່ຄ້າ 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ທີ່ປ່ຽນໄປ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3150" y="2051050"/>
            <a:ext cx="899715" cy="609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2A8D8"/>
                </a:solidFill>
                <a:latin typeface="Noto Sans Lao Looped"/>
                <a:ea typeface="Noto Sans Lao Looped"/>
                <a:cs typeface="Noto Sans Lao Looped"/>
              </a:rPr>
              <a:t>ກ່ອນ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3150" y="2800350"/>
            <a:ext cx="237926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755900"/>
            <a:ext cx="1771399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ລູກຄ້າບໍ່ມີກີບ ກໍ່ຍ່າງໜີ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3150" y="3305175"/>
            <a:ext cx="237926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3260725"/>
            <a:ext cx="2260032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ຕ້ອງຄິດອັດຕາແລກປ່ຽນເອງ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150" y="3810000"/>
            <a:ext cx="237926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50" y="3765550"/>
            <a:ext cx="2992123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ບໍ່ແນ່ໃຈວ່າເງິນເຂົ້າແທ້ ສ່ຽງສະລິບປອມ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3150" y="4314825"/>
            <a:ext cx="237926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8750" y="4270375"/>
            <a:ext cx="1956994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ຂາຍໄດ້ແຕ່ຄົນທີ່ຍ່າງຜ່ານ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2051050"/>
            <a:ext cx="655835" cy="609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5C58F"/>
                </a:solidFill>
                <a:latin typeface="Noto Sans Lao Looped"/>
                <a:ea typeface="Noto Sans Lao Looped"/>
                <a:cs typeface="Noto Sans Lao Looped"/>
              </a:rPr>
              <a:t>ຫຼັງ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2800350"/>
            <a:ext cx="245764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9750" y="2755900"/>
            <a:ext cx="3272766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ລູກຄ້າສະແກນດ້ວຍແອັບຂອງຕົນໄດ້ທັນທີ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3305175"/>
            <a:ext cx="245764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9750" y="3260725"/>
            <a:ext cx="3365777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ລາຄາເປັນກີບ ຊັດເຈນ ບໍ່ຕ້ອງຄິດອັດຕາເອງ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3810000"/>
            <a:ext cx="245764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9750" y="3765550"/>
            <a:ext cx="2957083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ໄດ້ເງິນກີບເຂົ້າບັນຊີ ໄດ້ຍິນສຽງຢືນຢັນ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4314825"/>
            <a:ext cx="245764" cy="215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9750" y="4270375"/>
            <a:ext cx="2423874" cy="342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ມີລູກຄ້າໃໝ່ມາຈາກແຜນທີ່ຮ້ານ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5302250"/>
            <a:ext cx="454124" cy="730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800" b="1" i="0" spc="-144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1524" y="5676900"/>
            <a:ext cx="2085046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ແອັບຈ່າຍເງິນ ຮັບໄດ້ດ້ວຍປ້າຍດຽວ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2633" y="5302250"/>
            <a:ext cx="454124" cy="730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800" b="1" i="0" spc="-144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157" y="5676900"/>
            <a:ext cx="3085349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ສະກຸນເງິນ: ກີບ — ທັງແມ່ຄ້າ ແລະ ລູກຄ້າ ເຫັນຄືກັນ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3267" y="5302250"/>
            <a:ext cx="454124" cy="730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800" b="1" i="0" spc="-144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791" y="5676900"/>
            <a:ext cx="1876734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ພາສາ ໃນແຜນທີ່ຮ້ານ ແລະ ເມນູ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2822" y="6394450"/>
            <a:ext cx="830262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ກ່ອນ ແລະ ຫຼັງ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09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1004589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ຮູບແບບທຸລະກິດ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587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5776043" cy="1154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ລາຍໄດ້ຈາກ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ສ່ວນແບ່ງຄ່າທຳນຽມ</a:t>
            </a:r>
          </a:p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ແມ່ຄ້າບໍ່ຈ່າຍເພີ່ມ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750" y="2597150"/>
            <a:ext cx="878482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ນັກທ່ອງທ່ຽວຈ່າຍ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750" y="2798365"/>
            <a:ext cx="1191914" cy="349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1" i="0" spc="-69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100,000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750" y="3143746"/>
            <a:ext cx="1025822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ກີບ ຜ່ານແອັບຂອງຕົນ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8704" y="2597150"/>
            <a:ext cx="1288125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ທະນາຄານ / PhaJay ເກັບ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8704" y="2798365"/>
            <a:ext cx="989210" cy="349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1" i="0" spc="-69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~1,500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8704" y="3143746"/>
            <a:ext cx="1763577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ກີບ (~1.5%) ຄ່າທຳນຽມທີ່ເກັບຢູ່ແລ້ວ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0227" y="2597150"/>
            <a:ext cx="731738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ແບ່ງໃຫ້ທີມເຮົາ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0227" y="2798365"/>
            <a:ext cx="761107" cy="349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1" i="0" spc="-69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~400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0227" y="3143746"/>
            <a:ext cx="1518725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ກີບ (~0.4%) ຈາກຄ່າທຳນຽມນັ້ນ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790950"/>
            <a:ext cx="4133338" cy="1149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7500" b="1" i="0" spc="-225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36–40</a:t>
            </a:r>
            <a:r>
              <a:rPr sz="2600" b="1" i="0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ພັນກີບ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1564" y="4489450"/>
            <a:ext cx="2307931" cy="5048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ລາຍໄດ້ ຕໍ່ຮ້ານ ຕໍ່ເດືອນ (ຍອດຂາຍ ~9 ລ້ານກີບ/ຮ້ານ/ເດືອນ)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372100"/>
            <a:ext cx="533697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ຄູ່ຮ່ວມ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645745"/>
            <a:ext cx="1942207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ໄດ້ຮ້ານຄ້າໃໝ່ ໂດຍບໍ່ຕ້ອງລົງທຶນລົງພື້ນທີ່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4533" y="5372100"/>
            <a:ext cx="526256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ແມ່ຄ້າ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4533" y="5645745"/>
            <a:ext cx="2323040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ໄດ້ຍອດຂາຍເພີ່ມ ບໍ່ຈ່າຍຄ່າບໍລິການໃຫ້ Phalom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7067" y="5372100"/>
            <a:ext cx="719633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Phalom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7067" y="5645745"/>
            <a:ext cx="3554694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ລາຍໄດ້ເພີ່ມຕາມຈຳນວນຮ້ານ · ອະນາຄົດ: ຟັງຊັນພິເສດ, ໂຄສະນາໃນແຜນທີ່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857" y="4809529"/>
            <a:ext cx="1678066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100,000 ກີບ = 1,000 ກ້ອນ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7213" y="1895514"/>
            <a:ext cx="1202507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ຄ່າທຳນຽມ · 15 ກ້ອນ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3930" y="1781849"/>
            <a:ext cx="1251156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ສ່ວນແບ່ງທີມ · 4 ກ້ອນ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7400" y="958850"/>
            <a:ext cx="105866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1 ກ້ອນ = 100 ກີບ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164" y="6394450"/>
            <a:ext cx="860921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ຮູບແບບທຸລະກິດ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10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1267551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ແຜນງານ 4 ໄຕມາດ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8556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4371224" cy="1154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ຈາກ 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100</a:t>
            </a: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 ຮ້ານໃນວຽງຈັນ</a:t>
            </a:r>
          </a:p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ເປັນ 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700</a:t>
            </a: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 ຮ້ານ ໃນ 3 ເຂດ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400300"/>
            <a:ext cx="896639" cy="260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 spc="-51">
                <a:solidFill>
                  <a:srgbClr val="A2A8D8"/>
                </a:solidFill>
                <a:latin typeface="Bricolage Grotesque"/>
                <a:ea typeface="Bricolage Grotesque"/>
                <a:cs typeface="Bricolage Grotesque"/>
              </a:rPr>
              <a:t>ໄຕມາດ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70770"/>
            <a:ext cx="632321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51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ເດືອນ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9000" y="2413000"/>
            <a:ext cx="1444144" cy="273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ທົດລອງໃນວຽງຈັນ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9000" y="2669778"/>
            <a:ext cx="2515600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ສ້າງແອັບລຸ້ນທຳອິດ, ເຊັນສັນຍາຮ່ວມມື, ລົມກັບແມ່ຄ້າ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9000" y="2853928"/>
            <a:ext cx="725785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100 ຮ້ານ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84128"/>
            <a:ext cx="896639" cy="260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 spc="-51">
                <a:solidFill>
                  <a:srgbClr val="A2A8D8"/>
                </a:solidFill>
                <a:latin typeface="Bricolage Grotesque"/>
                <a:ea typeface="Bricolage Grotesque"/>
                <a:cs typeface="Bricolage Grotesque"/>
              </a:rPr>
              <a:t>ໄຕມາດ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454598"/>
            <a:ext cx="632321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51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ເດືອນ 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9000" y="3196828"/>
            <a:ext cx="1613987" cy="273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ຂະຫຍາຍທົ່ວວຽງຈັນ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9000" y="3453606"/>
            <a:ext cx="1302162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ເພີ່ມແປເມນູ + ແຜນທີ່ຮ້ານ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9000" y="3637756"/>
            <a:ext cx="758130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250 ຮ້ານ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967956"/>
            <a:ext cx="896639" cy="260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 spc="-51">
                <a:solidFill>
                  <a:srgbClr val="A2A8D8"/>
                </a:solidFill>
                <a:latin typeface="Bricolage Grotesque"/>
                <a:ea typeface="Bricolage Grotesque"/>
                <a:cs typeface="Bricolage Grotesque"/>
              </a:rPr>
              <a:t>ໄຕມາດ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238426"/>
            <a:ext cx="632321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51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ເດືອນ 7–9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9000" y="3980656"/>
            <a:ext cx="1757791" cy="273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ຫຼວງພະບາງ + ວັງວຽງ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9000" y="4237434"/>
            <a:ext cx="1286303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ເປີດ 2 ເມືອງທ່ອງທ່ຽວໃໝ່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9000" y="4421584"/>
            <a:ext cx="773310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400 ຮ້ານ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751784"/>
            <a:ext cx="896639" cy="2603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 spc="-51">
                <a:solidFill>
                  <a:srgbClr val="A2A8D8"/>
                </a:solidFill>
                <a:latin typeface="Bricolage Grotesque"/>
                <a:ea typeface="Bricolage Grotesque"/>
                <a:cs typeface="Bricolage Grotesque"/>
              </a:rPr>
              <a:t>ໄຕມາດ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5022254"/>
            <a:ext cx="774898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51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ເດືອນ 10–12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9000" y="4764484"/>
            <a:ext cx="1757791" cy="273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ຫຼວງພະບາງ + ວັງວຽງ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9000" y="5021262"/>
            <a:ext cx="1249013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ເຕັມ 3 ເຂດທ່ອງທ່ຽວຫຼັກ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9000" y="5205412"/>
            <a:ext cx="750490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700 ຮ້ານ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8522" y="3232209"/>
            <a:ext cx="545405" cy="431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2000" b="1" i="0" spc="-6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100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ໄຕມາດ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6787" y="2776279"/>
            <a:ext cx="545405" cy="431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2000" b="1" i="0" spc="-6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250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ໄຕມາດ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9516" y="2112069"/>
            <a:ext cx="545405" cy="431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2000" b="1" i="0" spc="-6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400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ໄຕມາດ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7740" y="679549"/>
            <a:ext cx="819249" cy="59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3200" b="1" i="0" spc="-96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700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ໄຕມາດ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7400" y="958850"/>
            <a:ext cx="958850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1 ກ້ອນ = 1 ຮ້ານ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6350000"/>
            <a:ext cx="4086403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ເດືອນທຳອິດ ກວດຄືນຄ່າທຳນຽມ, ຍອດຂາຍຕໍ່ຮ້ານ ແລະ ຈຳນວນລູກຄ້າຕ່າງປະເທດຕໍ່ມື້ ກ່ອນຂະຫຍາຍ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3696" y="6394450"/>
            <a:ext cx="509389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ແຜນງານ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11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642143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ງົບປະມານ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8141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4161520" cy="1154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ທຶນເລີ່ມຕົ້ນ 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40 ລ້ານກີບ</a:t>
            </a:r>
          </a:p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ໃຊ້ເຮັດຫຍັງແດ່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03450"/>
            <a:ext cx="1277302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51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ທຶນ 40 ລ້ານ · ລ້ານກີບ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402879"/>
            <a:ext cx="19503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ເງິນກັນໄວ້ ລໍຖ້າລາຍຮັບ (ໄຕ 2–3)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563" y="2400300"/>
            <a:ext cx="414436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19.1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3229"/>
            <a:ext cx="1455181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ປ້າຍ QR ເປີດ 100 ຮ້ານ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7425" y="2660650"/>
            <a:ext cx="409575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6.0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23579"/>
            <a:ext cx="1443501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ໂຄສະນາຫານັກທ່ອງທ່ຽວ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9409" y="2921000"/>
            <a:ext cx="40759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183929"/>
            <a:ext cx="1285232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ເຊີເວີ ແລະ ລະບົບແອັບ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6950" y="3181350"/>
            <a:ext cx="4000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444279"/>
            <a:ext cx="13738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ຈົດທະບຽນ ແລະ ສັນຍາ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6950" y="3441700"/>
            <a:ext cx="4000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704629"/>
            <a:ext cx="125287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ເດີນທາງ ລົງຢ້ຽມຮ້ານ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6950" y="3702050"/>
            <a:ext cx="4000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964979"/>
            <a:ext cx="1021655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ເງິນສຳຮອງ 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0032" y="3962400"/>
            <a:ext cx="346967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A2A8D8"/>
                </a:solidFill>
                <a:latin typeface="Bricolage Grotesque"/>
                <a:ea typeface="Bricolage Grotesque"/>
                <a:cs typeface="Bricolage Grotesque"/>
              </a:rPr>
              <a:t>1.9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345979"/>
            <a:ext cx="371375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ລວມ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2156" y="4318000"/>
            <a:ext cx="654843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40.0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727700"/>
            <a:ext cx="1291232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ປີ 1: ລາຍຮັບ </a:t>
            </a:r>
            <a:r>
              <a:rPr sz="1000" b="0" i="0">
                <a:solidFill>
                  <a:srgbClr val="35C58F"/>
                </a:solidFill>
                <a:latin typeface="IBM Plex Mono"/>
                <a:ea typeface="IBM Plex Mono"/>
                <a:cs typeface="IBM Plex Mono"/>
              </a:rPr>
              <a:t>133.7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085" y="5727700"/>
            <a:ext cx="93464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ລາຍຈ່າຍ </a:t>
            </a:r>
            <a:r>
              <a:rPr sz="1000" b="0" i="0">
                <a:solidFill>
                  <a:srgbClr val="EC4F86"/>
                </a:solidFill>
                <a:latin typeface="IBM Plex Mono"/>
                <a:ea typeface="IBM Plex Mono"/>
                <a:cs typeface="IBM Plex Mono"/>
              </a:rPr>
              <a:t>124.3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4326" y="5727700"/>
            <a:ext cx="1147167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ກຳໄລ </a:t>
            </a:r>
            <a:r>
              <a:rPr sz="1000" b="0" i="0">
                <a:solidFill>
                  <a:srgbClr val="35C58F"/>
                </a:solidFill>
                <a:latin typeface="IBM Plex Mono"/>
                <a:ea typeface="IBM Plex Mono"/>
                <a:cs typeface="IBM Plex Mono"/>
              </a:rPr>
              <a:t>+9.3</a:t>
            </a:r>
            <a:r>
              <a:rPr sz="10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 ລ້ານກີບ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7701" y="3804979"/>
            <a:ext cx="57685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35C58F"/>
                </a:solidFill>
                <a:latin typeface="Noto Sans Lao"/>
                <a:ea typeface="Noto Sans Lao"/>
                <a:cs typeface="Noto Sans Lao"/>
              </a:rPr>
              <a:t>6.1</a:t>
            </a:r>
            <a:r>
              <a:rPr sz="9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 · </a:t>
            </a:r>
            <a:r>
              <a:rPr sz="900" b="1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20.9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2087" y="3865304"/>
            <a:ext cx="643235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35C58F"/>
                </a:solidFill>
                <a:latin typeface="Noto Sans Lao"/>
                <a:ea typeface="Noto Sans Lao"/>
                <a:cs typeface="Noto Sans Lao"/>
              </a:rPr>
              <a:t>21.3</a:t>
            </a:r>
            <a:r>
              <a:rPr sz="9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 · </a:t>
            </a:r>
            <a:r>
              <a:rPr sz="900" b="1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23.1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7545" y="3219469"/>
            <a:ext cx="849709" cy="336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35C58F"/>
                </a:solidFill>
                <a:latin typeface="Noto Sans Lao"/>
                <a:ea typeface="Noto Sans Lao"/>
                <a:cs typeface="Noto Sans Lao"/>
              </a:rPr>
              <a:t>39.5</a:t>
            </a:r>
            <a:r>
              <a:rPr sz="10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 &gt; </a:t>
            </a:r>
            <a:r>
              <a:rPr sz="1000" b="1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36.3</a:t>
            </a:r>
          </a:p>
          <a:p>
            <a:pPr algn="ctr">
              <a:lnSpc>
                <a:spcPct val="130000"/>
              </a:lnSpc>
            </a:pPr>
            <a:r>
              <a:rPr sz="800" b="1" i="0">
                <a:solidFill>
                  <a:srgbClr val="35C58F"/>
                </a:solidFill>
                <a:latin typeface="Noto Sans Lao"/>
                <a:ea typeface="Noto Sans Lao"/>
                <a:cs typeface="Noto Sans Lao"/>
              </a:rPr>
              <a:t>ລາຍຮັບເກີນລາຍຈ່າຍ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4092" y="2536249"/>
            <a:ext cx="643235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35C58F"/>
                </a:solidFill>
                <a:latin typeface="Noto Sans Lao"/>
                <a:ea typeface="Noto Sans Lao"/>
                <a:cs typeface="Noto Sans Lao"/>
              </a:rPr>
              <a:t>66.8</a:t>
            </a:r>
            <a:r>
              <a:rPr sz="9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 · </a:t>
            </a:r>
            <a:r>
              <a:rPr sz="900" b="1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44.0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82017" y="1576764"/>
            <a:ext cx="643235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35C58F"/>
                </a:solidFill>
                <a:latin typeface="Noto Sans Lao"/>
                <a:ea typeface="Noto Sans Lao"/>
                <a:cs typeface="Noto Sans Lao"/>
              </a:rPr>
              <a:t>94.2</a:t>
            </a:r>
            <a:r>
              <a:rPr sz="9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 · </a:t>
            </a:r>
            <a:r>
              <a:rPr sz="900" b="1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34.1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3197" y="5203904"/>
            <a:ext cx="516334" cy="2799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ໄຕ 1</a:t>
            </a:r>
          </a:p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100 ຮ້ານ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3420" y="5299154"/>
            <a:ext cx="324048" cy="2799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ໄຕ 2</a:t>
            </a:r>
          </a:p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250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2585" y="5400119"/>
            <a:ext cx="324048" cy="2799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35C58F"/>
                </a:solidFill>
                <a:latin typeface="IBM Plex Mono"/>
                <a:ea typeface="IBM Plex Mono"/>
                <a:cs typeface="IBM Plex Mono"/>
              </a:rPr>
              <a:t>ໄຕ 3</a:t>
            </a:r>
          </a:p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35C58F"/>
                </a:solidFill>
                <a:latin typeface="IBM Plex Mono"/>
                <a:ea typeface="IBM Plex Mono"/>
                <a:cs typeface="IBM Plex Mono"/>
              </a:rPr>
              <a:t>400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9375" y="5505529"/>
            <a:ext cx="324048" cy="2799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ໄຕ 4</a:t>
            </a:r>
          </a:p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700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13022" y="5616654"/>
            <a:ext cx="714474" cy="2799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ໄຕ 5 (ປີ 2)</a:t>
            </a:r>
          </a:p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850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0400" y="806450"/>
            <a:ext cx="985341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1 ກ້ອນ = 1 ລ້ານກີບ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0400" y="1020067"/>
            <a:ext cx="2320682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5C58F"/>
                </a:solidFill>
                <a:latin typeface="Noto Sans Lao"/>
                <a:ea typeface="Noto Sans Lao"/>
                <a:cs typeface="Noto Sans Lao"/>
              </a:rPr>
              <a:t>ລາຍຮັບ</a:t>
            </a: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= ຮ້ານສະເລ່ຍ × 3 ເດືອນ × 40,500 ກີບ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0400" y="1233685"/>
            <a:ext cx="2773310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EC4F86"/>
                </a:solidFill>
                <a:latin typeface="Noto Sans Lao"/>
                <a:ea typeface="Noto Sans Lao"/>
                <a:cs typeface="Noto Sans Lao"/>
              </a:rPr>
              <a:t>ລາຍຈ່າຍ</a:t>
            </a:r>
            <a:r>
              <a:rPr sz="9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= ຄ່າເປີດຮ້ານໃໝ່ + ຄ່າດຳເນີນງານ + 10% ສຳຮອງ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6350000"/>
            <a:ext cx="7634775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40,500 = 9 ລ້ານ × 1.5% × 30% · ທີມຊວນຮ້ານເອງ ໃຊ້ມືຖືຂອງທີມ · ຂາດທຶນສະສົມສູງສຸດ 16.7 ລ້ານ (ໄຕ 2) ເງິນກັນໄວ້ 19.1 ລ້ານ ພໍ · ລາຍລະອຽດ ໃນ Excel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5475" y="6394450"/>
            <a:ext cx="557609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ງົບປະມານ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12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2141624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ຄວາມສ່ຽງ ແລະ ຈຸດແຂງ-ຈຸດອ່ອນ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7883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8542389" cy="635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ຄວາມສ່ຽງ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ມີທາງອອກ</a:t>
            </a: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 · ຈຸດແຂງຄືເຄືອຂ່າຍແມ່ຄ້າ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150" y="2051050"/>
            <a:ext cx="889992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ຄວາມສ່ຽງ 1 · ສູງ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150" y="2264965"/>
            <a:ext cx="1422820" cy="349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ຄູ່ຮ່ວມບໍ່ຮ່ວມມື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150" y="2632571"/>
            <a:ext cx="4595824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ມີຫຼາຍທາງເລືອກ: ທະນາຄານລາວຫຼາຍແຫ່ງ ແລະ PhaJay — ບໍ່ຂຶ້ນກັບແຫ່ງດຽວ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50" y="3332261"/>
            <a:ext cx="889992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ຄວາມສ່ຽງ 2 · ສູງ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150" y="3546177"/>
            <a:ext cx="1729073" cy="349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ແມ່ຄ້າບໍ່ຍອມປ່ຽນ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150" y="3913782"/>
            <a:ext cx="3603664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ບໍ່ເກັບຄ່າບໍລິການຈາກແມ່ຄ້າ ແລະ ສະແດງຍອດຂາຍທີ່ເພີ່ມຂຶ້ນຈິງ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150" y="4613473"/>
            <a:ext cx="707528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ຄວາມສ່ຽງອື່ນ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150" y="4827389"/>
            <a:ext cx="2442090" cy="349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Alipay ຕ້ອງໃຊ້ QR ແຍກ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150" y="5194994"/>
            <a:ext cx="3182112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ລວມໄວ້ໃນປ້າຍດຽວ ແລະ ໃຫ້ແອັບເລືອກໃຫ້ອັດຕະໂນມັດ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2038350"/>
            <a:ext cx="1030982" cy="469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35C58F"/>
                </a:solidFill>
                <a:latin typeface="Noto Sans Lao Looped"/>
                <a:ea typeface="Noto Sans Lao Looped"/>
                <a:cs typeface="Noto Sans Lao Looped"/>
              </a:rPr>
              <a:t>ຈຸດແຂງ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2462510"/>
            <a:ext cx="1289518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ໃຊ້ເສັ້ນທາງເງິນທີ່ມີແລ້ວ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2703413"/>
            <a:ext cx="1501259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ຕົ້ນທຶນຕ່ຳ ທີມສ້າງແອັບເອງ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2944316"/>
            <a:ext cx="1530084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ລົງພື້ນທີ່ເອງ ຮູ້ຈັກແມ່ຄ້າແທ້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0" y="2038350"/>
            <a:ext cx="1080293" cy="469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A2A8D8"/>
                </a:solidFill>
                <a:latin typeface="Noto Sans Lao Looped"/>
                <a:ea typeface="Noto Sans Lao Looped"/>
                <a:cs typeface="Noto Sans Lao Looped"/>
              </a:rPr>
              <a:t>ຈຸດອ່ອນ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0200" y="2462510"/>
            <a:ext cx="1438894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ທີມໃໝ່ ຍັງບໍ່ໄດ້ເຊັນສັນຍາ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2703413"/>
            <a:ext cx="1048642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ລາຍໄດ້ຕໍ່ຮ້ານນ້ອຍ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2944316"/>
            <a:ext cx="802580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ຂຶ້ນກັບຄູ່ຮ່ວມ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3597969"/>
            <a:ext cx="622002" cy="469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ຮຽງ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0" y="4022129"/>
            <a:ext cx="1744610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ນັກທ່ອງທ່ຽວ +11% ປີ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4263032"/>
            <a:ext cx="1941135" cy="4822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5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QR ຂ້າມແດນ ໄທ ຈີນ ຫວຽດ ເປີດແລ້ວ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0" y="4744839"/>
            <a:ext cx="1936206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ເປົ້າລັດ 22 ລ້ານຄົນ 2026–2030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0" y="3597969"/>
            <a:ext cx="666750" cy="469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C4F86"/>
                </a:solidFill>
                <a:latin typeface="Noto Sans Lao Looped"/>
                <a:ea typeface="Noto Sans Lao Looped"/>
                <a:cs typeface="Noto Sans Lao Looped"/>
              </a:rPr>
              <a:t>ຊວຍ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0200" y="4022129"/>
            <a:ext cx="1735931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ທະນາຄານ ຫຼື ແອັບໃຫຍ່ເຮັດເອງ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200" y="4263032"/>
            <a:ext cx="943967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ກົດລະບຽບປ່ຽນ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0200" y="4503935"/>
            <a:ext cx="1427749" cy="2413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ອັດຕາແລກປ່ຽນຜັນຜວນ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6350000"/>
            <a:ext cx="4102155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ເປົ້າ 22 ລ້ານ ນັກທ່ອງທ່ຽວຕ່າງປະເທດ 2026–2030: Laotian Times (16/01/2026)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5532" y="6394450"/>
            <a:ext cx="577552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ຄວາມສ່ຽງ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13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65057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ຜົນກະທົບ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6575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4024145" cy="635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ຖ້າສຳເລັດ 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ໃຜໄດ້ຫຍັງ?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78458"/>
            <a:ext cx="2370510" cy="273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ຫຼັງ 1 ປີ ທີ່ມີ 700 ຮ້ານ ໃຊ້ Phalom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54250"/>
            <a:ext cx="593625" cy="311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ແມ່ຄ້າ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473325"/>
            <a:ext cx="1622345" cy="704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00" b="1" i="0" spc="-138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700</a:t>
            </a:r>
            <a:r>
              <a:rPr sz="1700" b="1" i="0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ຮ້ານ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26085"/>
            <a:ext cx="2245137" cy="4155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ຮັບເງິນນັກທ່ອງທ່ຽວໄດ້ ບໍ່ເສຍລູກຄ້າ ແລະ ມີປະຫວັດການຂາຍ ໃຊ້ຂໍສິນເຊື່ອໄດ້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467" y="2254250"/>
            <a:ext cx="1176535" cy="311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ນັກທ່ອງທ່ຽວ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467" y="2473325"/>
            <a:ext cx="2062650" cy="704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00" b="1" i="0" spc="-138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1.28</a:t>
            </a:r>
            <a:r>
              <a:rPr sz="17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ລ້ານຄັ້ງ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6467" y="3126085"/>
            <a:ext cx="2119872" cy="2222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ຈ່າຍດ້ວຍແອັບບ້ານເຂົາ ບໍ່ຕ້ອງແລກເງິນສົດ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6467" y="3401913"/>
            <a:ext cx="1539728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17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700 ຮ້ານ × 5 ຄັ້ງ × 365 ມື້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1033" y="2254250"/>
            <a:ext cx="1056084" cy="311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ປະເທດລາວ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1033" y="2473325"/>
            <a:ext cx="1616987" cy="704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00" b="1" i="0" spc="-138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~</a:t>
            </a:r>
            <a:r>
              <a:rPr sz="4600" b="1" i="0" spc="-138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78</a:t>
            </a:r>
            <a:r>
              <a:rPr sz="1700" b="1" i="0">
                <a:solidFill>
                  <a:srgbClr val="35C58F"/>
                </a:solidFill>
                <a:latin typeface="Noto Sans Lao Looped"/>
                <a:ea typeface="Noto Sans Lao Looped"/>
                <a:cs typeface="Noto Sans Lao Looped"/>
              </a:rPr>
              <a:t>ຕື້ກີບ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1033" y="3126085"/>
            <a:ext cx="2054078" cy="4155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ເງິນຈາກນັກທ່ອງທ່ຽວ ເຂົ້າທະນາຄານລາວ ແທນເງິນສົດ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1033" y="3595191"/>
            <a:ext cx="1616130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17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1.28 ລ້ານຄັ້ງ × ~61,500 ກີບ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933950"/>
            <a:ext cx="227557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ແມ່ຍິງ</a:t>
            </a: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ແມ່ຄ້າຂາຍທາງສ່ວນຫຼາຍເປັນແມ່ຍິງ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3009" y="4933950"/>
            <a:ext cx="2226492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ຊາວໜຸ່ມ</a:t>
            </a: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ມີວຽກເປັນພະນັກງານຊວນຮ້ານ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928717"/>
            <a:ext cx="576758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ຂະຫຍາຍຕໍ່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4808" y="5956300"/>
            <a:ext cx="625475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ລົດຕຸກຕຸກ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3483" y="5956300"/>
            <a:ext cx="581421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ເຮືອນພັກ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8105" y="5956300"/>
            <a:ext cx="1259300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ສະຖານີລົດໄຟລາວ-ຈີນ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6224" y="5956300"/>
            <a:ext cx="2280177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ນັກທ່ອງທ່ຽວເກົາຫຼີ 182,709 ຄົນ (2025)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540" y="1565949"/>
            <a:ext cx="156512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B63F"/>
                </a:solidFill>
                <a:latin typeface="Noto Sans Lao"/>
                <a:ea typeface="Noto Sans Lao"/>
                <a:cs typeface="Noto Sans Lao"/>
              </a:rPr>
              <a:t>490 ຮ້ານ ໃຊ້ຕໍ່ເນື່ອງ (70%)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00" y="958850"/>
            <a:ext cx="1686639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1 ກ້ອນ = 1 ຮ້ານ · 700 ກ້ອນ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0911" y="6394450"/>
            <a:ext cx="562173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ຜົນກະທົບ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14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1551408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ຕົວຊີ້ວັດຜົນງານ (KPI)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1386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4630435" cy="635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ວັດຜົນງານດ້ວຍ </a:t>
            </a: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6 ຕົວເລກ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78458"/>
            <a:ext cx="3151143" cy="273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KPI ຄືຕົວເລກທີ່ໃຊ້ວັດວ່າ ເຮົາເຮັດໄດ້ຕາມເປົ້າ ຫຼື ບໍ່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006600"/>
            <a:ext cx="1093092" cy="673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400" b="1" i="0" spc="-132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42790"/>
            <a:ext cx="138060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ຮ້ານ ໃນເດືອນທີ 12 (ເປົ້າ)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950" y="3004046"/>
            <a:ext cx="21699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18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ແຜນງານ: 100 → 250 → 400 → 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2633" y="2006600"/>
            <a:ext cx="1607879" cy="673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400" b="1" i="0" spc="-132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≥</a:t>
            </a:r>
            <a:r>
              <a:rPr sz="4400" b="1" i="0" spc="-132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70</a:t>
            </a:r>
            <a:r>
              <a:rPr sz="4400" b="1" i="0" spc="-132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2633" y="2642790"/>
            <a:ext cx="142057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ຮ້ານທີ່ຍັງໃຊ້ຢູ່ ຫຼັງ 3 ເດືອນ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0583" y="3004046"/>
            <a:ext cx="17147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18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ຮ້ານທີ່ຍັງໃຊ້ ÷ ຮ້ານທີ່ເປີດ 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3267" y="2006600"/>
            <a:ext cx="705346" cy="673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400" b="1" i="0" spc="-132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≥</a:t>
            </a:r>
            <a:r>
              <a:rPr sz="4400" b="1" i="0" spc="-132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3267" y="2642790"/>
            <a:ext cx="187802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ຄັ້ງ ທີ່ຮັບເງິນຕ່າງປະເທດ ຕໍ່ຮ້ານ ຕໍ່ມື້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1217" y="3004046"/>
            <a:ext cx="2043576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18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ຄັ້ງຈ່າຍທັງເດືອນ ÷ ຈຳນວນຮ້ານ ÷ 30 ມື້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341786"/>
            <a:ext cx="1237226" cy="673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400" b="1" i="0" spc="-132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9</a:t>
            </a:r>
            <a:r>
              <a:rPr sz="18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ລ້ານກີບ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977977"/>
            <a:ext cx="134845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ຍອດຂາຍ ຕໍ່ຮ້ານ ຕໍ່ເດືອນ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950" y="4339232"/>
            <a:ext cx="2555355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18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5 ຄັ້ງ × 30 ມື້ × ~61,500 ກີບ ≈ 9.2 ລ້ານ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2633" y="3341786"/>
            <a:ext cx="1464183" cy="673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400" b="1" i="0" spc="-132">
                <a:solidFill>
                  <a:srgbClr val="35C58F"/>
                </a:solidFill>
                <a:latin typeface="Bricolage Grotesque"/>
                <a:ea typeface="Bricolage Grotesque"/>
                <a:cs typeface="Bricolage Grotesque"/>
              </a:rPr>
              <a:t>~40</a:t>
            </a:r>
            <a:r>
              <a:rPr sz="1800" b="1" i="0">
                <a:solidFill>
                  <a:srgbClr val="35C58F"/>
                </a:solidFill>
                <a:latin typeface="Noto Sans Lao Looped"/>
                <a:ea typeface="Noto Sans Lao Looped"/>
                <a:cs typeface="Noto Sans Lao Looped"/>
              </a:rPr>
              <a:t>ພັນ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2633" y="3977977"/>
            <a:ext cx="1886485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ກີບ ລາຍໄດ້ຂອງທີມ ຕໍ່ຮ້ານ ຕໍ່ເດືອນ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0583" y="4339232"/>
            <a:ext cx="3108495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18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9 ລ້ານ × 1.5% ຄ່າທຳນຽມ × 30% ສ່ວນແບ່ງ = 40,500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3267" y="3341786"/>
            <a:ext cx="1138932" cy="673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400" b="1" i="0" spc="-132">
                <a:solidFill>
                  <a:srgbClr val="EC4F86"/>
                </a:solidFill>
                <a:latin typeface="Bricolage Grotesque"/>
                <a:ea typeface="Bricolage Grotesque"/>
                <a:cs typeface="Bricolage Grotesque"/>
              </a:rPr>
              <a:t>ໄຕ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3267" y="3977977"/>
            <a:ext cx="185991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ລາຍຮັບເກີນລາຍຈ່າຍ (ເດືອນ 7–9)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1217" y="4339232"/>
            <a:ext cx="2303216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18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ລາຍຮັບ 39.5 ລ້ານ &gt; ລາຍຈ່າຍ 36.3 ລ້ານ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849217"/>
            <a:ext cx="1173261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ຈຳນວນຮ້ານ ຕາມໄຕມາດ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94011" y="4876800"/>
            <a:ext cx="602753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ໄຕມາດ 1 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8665" y="4876800"/>
            <a:ext cx="331092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5658" y="4876800"/>
            <a:ext cx="636190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ໄຕມາດ 2 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3749" y="4876800"/>
            <a:ext cx="356393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250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6042" y="4876800"/>
            <a:ext cx="637678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ໄຕມາດ 3 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5621" y="4876800"/>
            <a:ext cx="367506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9028" y="4876800"/>
            <a:ext cx="637678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ໄຕມາດ 4 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8607" y="4876800"/>
            <a:ext cx="350738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700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6350000"/>
            <a:ext cx="3592198" cy="127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ເປົ້າໝາຍ ແລະ ການຄາດຄະເນຂອງທີມ ຈະກວດຄືນຕອນທົດລອງ ເດືອນ 1–3 ກັບຮ້ານຈິງ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8655" y="6394450"/>
            <a:ext cx="834429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ຕົວຊີ້ວັດຜົນງານ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15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4675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74675"/>
            <a:ext cx="44995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ສະຫຼຸບ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5954" y="596900"/>
            <a:ext cx="381595" cy="139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 i="0" spc="66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0:25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44550"/>
            <a:ext cx="5773364" cy="1154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ແມ່ຄ້ານ້ອຍ ຮັບເງິນນັກທ່ອງທ່ຽວ</a:t>
            </a:r>
          </a:p>
          <a:p>
            <a:pPr algn="l">
              <a:lnSpc>
                <a:spcPct val="132000"/>
              </a:lnSpc>
            </a:pPr>
            <a:r>
              <a:rPr sz="3100" b="1" i="0" spc="-15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ດ້ວຍ QR ດຽວ ເປັນເງິນກີບ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514600"/>
            <a:ext cx="1104205" cy="196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50" b="0" i="0" spc="19">
                <a:solidFill>
                  <a:srgbClr val="6B72AD"/>
                </a:solidFill>
                <a:latin typeface="Noto Sans Lao"/>
                <a:ea typeface="Noto Sans Lao"/>
                <a:cs typeface="Noto Sans Lao"/>
              </a:rPr>
              <a:t>ສິ່ງທີ່ພວກເຮົາຕ້ອງການ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750" y="2919015"/>
            <a:ext cx="350539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750" y="3242865"/>
            <a:ext cx="1760041" cy="4968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25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ການແນະນຳຕໍ່ທະນາຄານ ແລະ PhaJay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9750" y="2919015"/>
            <a:ext cx="1353812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40 ລ້ານກີບ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750" y="3242865"/>
            <a:ext cx="1660064" cy="4968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25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ທຶນເລີ່ມຕົ້ນ ພາໄປຮອດມື້ທີ່ລາຍຮັບພໍຈ່າຍເອງ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0" y="2919015"/>
            <a:ext cx="414337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4B63F"/>
                </a:solidFill>
                <a:latin typeface="Bricolage Grotesque"/>
                <a:ea typeface="Bricolage Grotesque"/>
                <a:cs typeface="Bricolage Grotesq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50" y="3242865"/>
            <a:ext cx="1751468" cy="4968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25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ການຮ່ວມມືຈາກຄະນະຕະຫຼາດ ແລະ ພະແນກທ່ອງທ່ຽວ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292600"/>
            <a:ext cx="4157876" cy="469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ນັກທ່ອງທ່ຽວຈ່າຍແບບບ້ານເຂົາ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16065"/>
            <a:ext cx="4001428" cy="469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4B63F"/>
                </a:solidFill>
                <a:latin typeface="Noto Sans Lao Looped"/>
                <a:ea typeface="Noto Sans Lao Looped"/>
                <a:cs typeface="Noto Sans Lao Looped"/>
              </a:rPr>
              <a:t>ແມ່ຄ້າຮັບເງິນກີບແບບບ້ານເຮົາ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740400"/>
            <a:ext cx="1840194" cy="304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 spc="-20">
                <a:solidFill>
                  <a:srgbClr val="EEF0FF"/>
                </a:solidFill>
                <a:latin typeface="Bricolage Grotesque"/>
                <a:ea typeface="Bricolage Grotesque"/>
                <a:cs typeface="Bricolage Grotesque"/>
              </a:rPr>
              <a:t>ຂອບໃຈທຸກທ່ານ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057900"/>
            <a:ext cx="430125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ອີເມວ: </a:t>
            </a:r>
            <a:r>
              <a:rPr sz="11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phalom.payment@gmail.com</a:t>
            </a: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 · ໂທ: </a:t>
            </a:r>
            <a:r>
              <a:rPr sz="1100" b="1" i="0">
                <a:solidFill>
                  <a:srgbClr val="EEF0FF"/>
                </a:solidFill>
                <a:latin typeface="Noto Sans Lao"/>
                <a:ea typeface="Noto Sans Lao"/>
                <a:cs typeface="Noto Sans Lao"/>
              </a:rPr>
              <a:t>+856 20 5628 0572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9682" y="6394450"/>
            <a:ext cx="393402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ສະຫຼຸບ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16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picture)" descr="bg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46100"/>
            <a:ext cx="27334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F4B63F"/>
                </a:solidFill>
                <a:latin typeface="IBM Plex Mono"/>
                <a:ea typeface="IBM Plex Mono"/>
                <a:cs typeface="IBM Plex Mono"/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47" y="546100"/>
            <a:ext cx="3120497" cy="1841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 spc="66">
                <a:solidFill>
                  <a:srgbClr val="A2A8D8"/>
                </a:solidFill>
                <a:latin typeface="IBM Plex Mono"/>
                <a:ea typeface="IBM Plex Mono"/>
                <a:cs typeface="IBM Plex Mono"/>
              </a:rPr>
              <a:t>ສຳຮອງ · ເປີດເມື່ອກຳມະການຖາມວ່າຂໍ້ມູນມາຈາກໃສ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7400"/>
            <a:ext cx="1798617" cy="635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3100" b="1" i="0" spc="-15">
                <a:solidFill>
                  <a:srgbClr val="EEF0FF"/>
                </a:solidFill>
                <a:latin typeface="Noto Sans Lao Looped"/>
                <a:ea typeface="Noto Sans Lao Looped"/>
                <a:cs typeface="Noto Sans Lao Looped"/>
              </a:rPr>
              <a:t>ແຫຼ່ງຂໍ້ມູນ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00" y="1771650"/>
            <a:ext cx="9428356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ກົມພັດທະນາການທ່ອງທ່ຽວ, Statistical Report on Tourism 2024 (tdd.gov.la): ນັກທ່ອງທ່ຽວ 4,120,832 ຄົນ; ລາຍຮັບ 1,421,992,819 USD (ຕາຕະລາງ 7, 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" y="2077045"/>
            <a:ext cx="9496722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KPL, “Laos Records Strong Tourism Growth with 4.5 Million International Visitors in 2025” (kpl.gov.la): 4,580,709 ຄົນ, +11%, ແຍກຕາມປະເທດ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500" y="2382440"/>
            <a:ext cx="604629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Laotian Times (16/01/2026): ເກີນເປົ້າ 4.3 ລ້ານ; ເປົ້າ 2026–2030 ນັກທ່ອງທ່ຽວຕ່າງປະເທດ 22 ລ້ານຄົນ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500" y="2687835"/>
            <a:ext cx="835379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Bank of Thailand, Joint Press Release (03/04/2024): ເຊື່ອມ QR ໄທ–ລາວ; Tourism Laos (17/07/2024): Krungsri ສະແກນ LAO 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500" y="2993231"/>
            <a:ext cx="7411997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Tourism Laos (17/01/2025) ແລະ Caixin (20/12/2024): UnionPay International ເຊື່ອມ LAPNet, 8 ທະນາຄານສະມາຊິກ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500" y="3298626"/>
            <a:ext cx="694501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Greater Mekong / Internet Laos (01/2025): QR ຂ້າມແດນ ລາວ–ຫວຽດນາມ ເປີດ 9 ມັງກອນ, ທະນາຄານລາວ 14 ແຫ່ງ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" y="3604021"/>
            <a:ext cx="5408818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The Asian Banker (14/10/2019): BCEL ຮ່ວມກັບ Wallyt ຮັບ Alipay ແລະ WeChat 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500" y="3909417"/>
            <a:ext cx="505531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loca.la/locapay: ຕ້ອງໂຫຼດແອັບ LOCA ແລະ ຜູກບັດ; ຄ່າທຳນຽມ 3% + 5,000 LAK ຕໍ່ຄັ້ງ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" y="4214812"/>
            <a:ext cx="743675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A8D8"/>
                </a:solidFill>
                <a:latin typeface="Noto Sans Lao"/>
                <a:ea typeface="Noto Sans Lao"/>
                <a:cs typeface="Noto Sans Lao"/>
              </a:rPr>
              <a:t>phajay.co ແລະ payment-doc.lailaolab.com: Payment QR, Payment Link, REST API, SDK, Alipay / WeChat 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1251" y="6394450"/>
            <a:ext cx="541833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ແຫຼ່ງຂໍ້ມູນ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5785" y="6394450"/>
            <a:ext cx="633114" cy="146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 i="0" spc="72">
                <a:solidFill>
                  <a:srgbClr val="EEF0FF"/>
                </a:solidFill>
                <a:latin typeface="IBM Plex Mono"/>
                <a:ea typeface="IBM Plex Mono"/>
                <a:cs typeface="IBM Plex Mono"/>
              </a:rPr>
              <a:t>17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 / </a:t>
            </a:r>
            <a:r>
              <a:rPr sz="900" b="0" i="0" spc="72">
                <a:solidFill>
                  <a:srgbClr val="6B72AD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