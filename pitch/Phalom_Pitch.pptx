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ເປີດ" id="{6be67b87-00d9-4b98-df85-eccb5c1caf3c}">
          <p14:sldIdLst>
            <p14:sldId id="256"/>
          </p14:sldIdLst>
        </p14:section>
        <p14:section name="ບັນຫາ" id="{1cb8bd38-a75f-52a1-b7e8-d08e937e9a19}">
          <p14:sldIdLst>
            <p14:sldId id="257"/>
            <p14:sldId id="258"/>
          </p14:sldIdLst>
        </p14:section>
        <p14:section name="ຕະຫຼາດ" id="{43cf834b-6aa9-b6ac-96ba-2a4030380f27}">
          <p14:sldIdLst>
            <p14:sldId id="259"/>
          </p14:sldIdLst>
        </p14:section>
        <p14:section name="ວິທີແກ້" id="{9236daa0-d239-74db-5b71-8fb4adb0db5a}">
          <p14:sldIdLst>
            <p14:sldId id="260"/>
            <p14:sldId id="261"/>
          </p14:sldIdLst>
        </p14:section>
        <p14:section name="ຄູ່ແຂ່ງ" id="{ab1d0f89-f14c-7a3f-a047-5eccbc7b8688}">
          <p14:sldIdLst>
            <p14:sldId id="262"/>
          </p14:sldIdLst>
        </p14:section>
        <p14:section name="ຕົ້ນແບບ" id="{b1d6fc6e-11b7-09e1-08ee-8d26cd1a604f}">
          <p14:sldIdLst>
            <p14:sldId id="263"/>
            <p14:sldId id="264"/>
          </p14:sldIdLst>
        </p14:section>
        <p14:section name="ທຸລະກິດ" id="{149f8da9-0c35-e59c-a0db-0641d365d24d}">
          <p14:sldIdLst>
            <p14:sldId id="265"/>
          </p14:sldIdLst>
        </p14:section>
        <p14:section name="ແຜນງານ" id="{bf681a27-56a4-3db7-d21a-6927312ec6ef}">
          <p14:sldIdLst>
            <p14:sldId id="266"/>
            <p14:sldId id="267"/>
            <p14:sldId id="268"/>
          </p14:sldIdLst>
        </p14:section>
        <p14:section name="ຜົນກະທົບ" id="{4ce17fcd-cbef-93d4-dc94-8297bd0aa3a5}">
          <p14:sldIdLst>
            <p14:sldId id="269"/>
          </p14:sldIdLst>
        </p14:section>
        <p14:section name="ສະຫຼຸບ" id="{62bf86bf-367d-2220-6d92-fe9347b3c8ec}">
          <p14:sldIdLst>
            <p14:sldId id="270"/>
          </p14:sldIdLst>
        </p14:section>
        <p14:section name="ສຳຮອງ" id="{65dd1427-4913-c760-52f5-47988d843703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070"/>
                </a:solidFill>
                <a:latin typeface="+mn-lt"/>
              </a:rPr>
              <a:t>ນັກທ່ອງທ່ຽວມາລາວ ປີ 2025 (ລ້ານຄົນ)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4D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4D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43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819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81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ໄທ</c:v>
                  </c:pt>
                  <c:pt idx="1">
                    <c:v>ຈີນ</c:v>
                  </c:pt>
                  <c:pt idx="2">
                    <c:v>ຫວຽດນາມ</c:v>
                  </c:pt>
                  <c:pt idx="3">
                    <c:v>ເກົາຫຼີ</c:v>
                  </c:pt>
                  <c:pt idx="4">
                    <c:v>ອື່ນໆ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1.484</c:v>
                </c:pt>
                <c:pt idx="1">
                  <c:v>1.157</c:v>
                </c:pt>
                <c:pt idx="2">
                  <c:v>1.129</c:v>
                </c:pt>
                <c:pt idx="3">
                  <c:v>0.183</c:v>
                </c:pt>
                <c:pt idx="4">
                  <c:v>0.627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51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0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070"/>
                </a:solidFill>
                <a:latin typeface="+mn-lt"/>
              </a:rPr>
              <a:t>ງົບ 3 ເດືອນທຳອິດ: 40 ລ້ານກີບ (ລ້ານກີບ)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ລ້ານກີບ</c:v>
                </c:pt>
              </c:strCache>
            </c:strRef>
          </c:tx>
          <c:spPr>
            <a:solidFill>
              <a:srgbClr val="1F2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51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ຕົວແທນລົງພື້ນທີ່</c:v>
                  </c:pt>
                  <c:pt idx="1">
                    <c:v>ຄ່າເດີນທາງ</c:v>
                  </c:pt>
                  <c:pt idx="2">
                    <c:v>ປ້າຍ QR ແລະ ສະແຕນ</c:v>
                  </c:pt>
                  <c:pt idx="3">
                    <c:v>ການຕະຫຼາດ ໂຮງແຮມ/ທົວ</c:v>
                  </c:pt>
                  <c:pt idx="4">
                    <c:v>Server, SMS</c:v>
                  </c:pt>
                  <c:pt idx="5">
                    <c:v>ສຳຮອງ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51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[0:15] ໜ້າປົກ
"ສະບາຍດີ ຄະນະກຳມະການ ແລະ ທຸກທ່ານ. ພວກເຮົາແມ່ນທີມ Phalom ຈາກ [ມະຫາວິທະຍາໄລ/ຄະນະ]. ມື້ນີ້ພວກເຮົາຈະນຳສະເໜີແນວທາງຊ່ວຍແມ່ຄ້ານ້ອຍ ຮັບເງິນຈາກນັກທ່ອງທ່ຽວຕ່າງປະເທດ — ພາຍໃຕ້ແນວຄິດ: ນັກທ່ອງທ່ຽວຈ່າຍແບບບ້ານເຂົາ — ແມ່ຄ້າຮັບເງິນກີບແບບບ້ານເຮົາ."
(ຢຸດສັ້ນໆ ຫຼັງຄຳຂວັນ)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ບັນຫາ
"ລອງນຶກພາບນັກທ່ອງທ່ຽວຈີນຄົນໜຶ່ງ ຍ່າງຢູ່ຕະຫຼາດມືດ. ລາວເຫັນຜ້າທໍທີ່ມັກ ຢາກຊື້. ແຕ່ລາວບໍ່ມີເງິນກີບ — ລາວມີແຕ່ Alipay ໃນມືຖື. ແມ່ຄ້າຮັບບໍ່ໄດ້. ລາວຈຶ່ງຍ່າງໜີ.
ເລື່ອງນີ້ເກີດຂຶ້ນທຸກມື້. ປີ 2025 ລາວມີນັກທ່ອງທ່ຽວຕ່າງປະເທດ 4.58 ລ້ານຄົນ — ແລະ 82% ມາຈາກ ໄທ, ຈີນ ແລະ ຫວຽດນາມ — ປະເທດທີ່ຄົນຈ່າຍເງິນດ້ວຍ QR ເປັນປົກກະຕິ.
ແຕ່ຮ້ານຂອງທີ່ລະນຶກ ແລະ ອາຫານທາງ ສ່ວນຫຼາຍຮັບໄດ້ແຕ່ເງິນສົດ ຫຼື QR ບັນຊີສ່ວນຕົວ. ຜົນຄື: ລູກຄ້າຢາກຊື້ — ແຕ່ຈ່າຍບໍ່ໄດ້ — ແມ່ຄ້າເສຍຍອດຂາຍ."
ຂໍ້ມູນທີ່ກວດແລ້ວ: 4,580,709 ຄົນ (2025, +11%). ໄທ 1,484,319 + ຈີນ 1,157,278 + ຫວຽດນາມ 1,129,109 = 3,770,706 = 82.3%. ແຫຼ່ງ: KPL ອ້າງອີງກະຊວງຖະແຫຼງຂ່າວ ວັດທະນະທຳ ແລະ ທ່ອງທ່ຽວ (01/2026).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ສາເຫດ (Why-Why)
"ເປັນຫຍັງຈຶ່ງເກີດ? ພວກເຮົາຖາມ 'ເປັນຫຍັງ' ຊ້ຳໆ:
ແມ່ຄ້າເສຍຍອດຂາຍ — ເພາະນັກທ່ອງທ່ຽວຈ່າຍດ້ວຍແອັບຂອງຕົນບໍ່ໄດ້.
ເປັນຫຍັງ? ເພາະ QR ຂອງແມ່ຄ້າເປັນບັນຊີສ່ວນຕົວ ທີ່ບໍ່ໄດ້ສະໝັກຮັບເງິນຕ່າງປະເທດ.
ເປັນຫຍັງບໍ່ສະໝັກ? ເພາະຊ່ອງທາງແຍກກັນ ແລະ ຂໍ້ມູນຫາຍາກ. ພວກເຮົາລອງສອບຖາມທະນາຄານ 4 ແຫ່ງທາງອອນລາຍ — 2 ແຫ່ງບໍ່ຕອບ, 2 ແຫ່ງໃຫ້ໄປຖາມທີ່ສາຂາ. ຖ້າພວກເຮົາຍັງຫາຍາກ — ແມ່ຄ້າທີ່ຂາຍທັງວັນ ກໍ່ຍິ່ງຍາກກວ່າ.
ແລະ ເປັນຫຍັງບໍ່ມີໃຜຊ່ວຍ? ເພາະການລົງໄປສອນແມ່ຄ້າທີລະຄົນບໍ່ຄຸ້ມທຶນສຳລັບທະນາຄານ.
ສະນັ້ນ ຕົ້ນເຫດແທ້ບໍ່ແມ່ນເທັກໂນໂລຊີ — ເສັ້ນທາງເງິນມີແລ້ວ ແຕ່ຂາດ 'ໄມລ໌ສຸດທ້າຍ' ທີ່ພາແມ່ຄ້ານ້ອຍໄປເຖິງ."
(ປະໂຫຍກສຸດທ້າຍ ເວົ້າຊ້າ ແລະ ໜັກແໜ້ນ)
ຫຼັກຖານວ່າ "ເສັ້ນທາງມີແລ້ວ" (ກ່ອງຂວາ): ໄທ→ລາວ ເປີດ 07/2024 (Krungsri, ທະນາຄານລາວ 17 ແຫ່ງ); ຈີນ: UnionPay–LAPNet ເຊັນ 19/12/2024 (8 ທະນາຄານ); ຫວຽດນາມ→ລາວ ເປີດ 9/1/2025 (ທະນາຄານລາວ 14 ແຫ່ງ); Alipay/WeChat Pay ຜ່ານ BCEL–Wallyt ຕັ້ງແຕ່ 2019 ແລະ ຜ່ານ PhaJay.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ຂະໜາດຕະຫຼາດ
"ຕະຫຼາດນີ້ໃຫຍ່ປານໃດ? ຕາມລາຍງານທາງການຂອງກົມພັດທະນາການທ່ອງທ່ຽວ, ປີ 2024 ນັກທ່ອງທ່ຽວຕ່າງປະເທດໃຊ້ຈ່າຍໃນລາວ ປະມານ 1,422 ລ້ານໂດລາ.
ພວກເຮົາເລືອກສະເພາະນັກທ່ອງທ່ຽວ ໄທ, ຈີນ, ຫວຽດ ໃນ 3 ເຂດທ່ອງທ່ຽວ ແລະ ເງິນທີ່ໃຊ້ຢູ່ຮ້ານນ້ອຍ — ໄດ້ຕະຫຼາດທີ່ເຂົ້າເຖິງໄດ້ ປະມານ 44 ລ້ານໂດລາຕໍ່ປີ.
ປີທຳອິດ ດ້ວຍ 700 ຮ້ານ ເງິນທີ່ແລ່ນຜ່ານລະບົບຂອງເຮົາຈະຢູ່ທີ່ ປະມານ 3.5 ລ້ານໂດລາ — ພຽງ 8% ຂອງຕະຫຼາດ. ແລະ ຕະຫຼາດກຳລັງເຕີບໂຕ: ປີ 2025 ນັກທ່ອງທ່ຽວເພີ່ມ 11%."
ວິທີຄິດ (ຖ້າຖືກຖາມ):
TAM: 1,421,992,819 USD = ລາຍຮັບຈາກນັກທ່ອງທ່ຽວທັງໝົດ 2024 (Statistical Report on Tourism 2024, ຕາຕະລາງ 7, tdd.gov.la).
SAM ≈ 1,422 × 80.5% (ສ່ວນແບ່ງ ໄທ+ຈີນ+ຫວຽດ ປີ 2024: 3,317,791 / 4,120,832) × ~55% (ໃຊ້ຈ່າຍໃນ ວຽງຈັນ, ຫຼວງພະບາງ, ວັງວຽງ: ສົມມຸດຕິຖານ) × ~7% (ຂອງທີ່ລະນຶກ ແລະ ອາຫານທາງ: ສົມມຸດຕິຖານ) ≈ 44 ລ້ານ USD.
SOM: 700 ຮ້ານ × 5 ທຸລະກຳ/ມື້ × 365 ມື້ × ~61,500 ກີບ (~2.7 USD) ≈ 3.5 ລ້ານ USD (ອັດຕາ 1 USD ≈ 22,458 ກີບ, 10/2026). = 8% ຂອງ SAM. ນີ້ແມ່ນຍອດເງິນຜ່ານລະບົບ ບໍ່ແມ່ນລາຍໄດ້ທີມ.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ວິທີແກ້
"Solution ຂອງພວກເຮົາແມ່ນແອັບສຳລັບແມ່ຄ້າ ທີ່ເຊື່ອມກັບເສັ້ນທາງເງິນທີ່ມີຢູ່ແລ້ວ — ທະນາຄານທີ່ເປັນສະມາຊິກ LAPNet ແລະ payment gateway ເຊັ່ນ PhaJay. ພວກເຮົາບໍ່ສ້າງລະບົບເງິນໃໝ່ ແລະ ບໍ່ແຕະເງິນຂອງແມ່ຄ້າ.
ພວກເຮົາໃຫ້ຄຸນຄ່າ 3 ຊັ້ນ:
ໜຶ່ງ — ພາເຂົ້າລະບົບ: ລົງທະບຽນຜ່ານມືຖື, ໄດ້ປ້າຍດຽວ ຮັບໄດ້ທຸກແອັບ.
ສອງ — ຊ່ວຍຂາຍ: ສຽງແຈ້ງເງິນເຂົ້າເປັນພາສາລາວ, ສະແດງລາຄາເປັນກີບ ພ້ອມຄຳອະທິບາຍເປັນພາສາຂອງລູກຄ້າ, ແປເມນູອັດຕະໂນມັດ.
ສາມ — ພາລູກຄ້າມາ: ແຜນທີ່ຮ້ານສຳລັບນັກທ່ອງທ່ຽວ ຜ່ານໂຮງແຮມ ແລະ ທົວ.
ນັກທ່ອງທ່ຽວບໍ່ຕ້ອງໂຫຼດແອັບໃໝ່ — ແມ່ຄ້າໄດ້ເງິນກີບ."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ວິທີເຮັດວຽກ
"ຂະບວນການງ່າຍໆ:
ແມ່ຄ້າລົງທະບຽນກັບພວກເຮົາ — ໄດ້ປ້າຍ QR.
ນັກທ່ອງທ່ຽວເຫັນໂລໂກ້ແອັບທີ່ຄຸ້ນເຄີຍ — ສະແກນດ້ວຍ PromptPay, Alipay ຫຼື ແອັບຂອງຕົນ.
ເງິນແລ່ນຜ່ານທະນາຄານ ຫຼື PhaJay — ເຂົ້າບັນຊີແມ່ຄ້າເປັນເງິນກີບໂດຍກົງ.
ແລະ ແອັບຂອງເຮົາປະກາດ: 'ໄດ້ຮັບເງິນ 50,000 ກີບ' — ແມ່ຄ້າຍື່ນສິນຄ້າໄດ້ທັນທີ ບໍ່ຕ້ອງເບິ່ງມືຖື ແລະ ບໍ່ຖືກຫຼອກດ້ວຍສະລິບປອມ."
ຈຸດສຳຄັນ: ເງິນບໍ່ເຄີຍຜ່ານບັນຊີຂອງທີມ Phalom. ແອັບຮັບພຽງການແຈ້ງເຕືອນ (notification) ຈາກທະນາຄານ/gateway ເພື່ອປະກາດສຽງ.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ຄູ່ແຂ່ງ
"ມີໃຜເຮັດແບບນີ້ແລ້ວບໍ? LOCA Pay ໃຫ້ນັກທ່ອງທ່ຽວຈ່າຍ QR ໄດ້ — ແຕ່ຕ້ອງໂຫຼດແອັບ ແລະ ຢືນຢັນຕົວຕົນກ່ອນ. PhaJay ເປັນ payment gateway ທີ່ດີ — ແຕ່ເປັນເຄື່ອງມືສຳລັບນັກພັດທະນາ ແມ່ຄ້າຂາຍທາງໃຊ້ເອງບໍ່ໄດ້. ທະນາຄານມີເສັ້ນທາງ — ແຕ່ບໍ່ລົງໄປຫາແມ່ຄ້າ.
ພວກເຮົາເບິ່ງທະນາຄານ ແລະ PhaJay ເປັນຄູ່ຮ່ວມ ບໍ່ແມ່ນສັດຕູ. ຄູ່ແຂ່ງແທ້ຂອງພວກເຮົາຄືນິໄສໃຊ້ເງິນສົດ."
ຂໍ້ມູນທີ່ກວດແລ້ວ: LOCA PAY (loca.la/locapay): ຕ້ອງໂຫຼດແອັບ LOCA ແລະ ຜູກບັດ; ຄ່າທຳນຽມ 3% + 5,000 ກີບ ຕໍ່ຄັ້ງ (ຈ່າຍ 100,000 ກີບ ເສຍ 8,000 ກີບ). PhaJay (phajay.co): REST API, SDK, sandbox ສຳລັບນັກພັດທະນາ; ຮອງຮັບ QR ຂອງ BCEL, JDB, LDB, IB, ST Bank, M Money ແລະ Alipay/WeChat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ຕົ້ນແບບ — ສາທິດສົດ
"ຂໍສາທິດໃຫ້ເບິ່ງ. ນີ້ແມ່ນແອັບຈິງ ມີເຊີບເວີຢູ່ Cloudflare ແລະ ຖານຂໍ້ມູນ Supabase.
[ເປີດແອັບແມ່ຄ້າ] ນີ້ຄືໜ້າແອັບຂອງແມ່ຄ້າ: ຍອດຂາຍມື້ນີ້ແບບສົດ ແລະ ລູກຄ້າມາຈາກປະເທດໃດ.
[ກົດ ຮັບເງິນ, ໃສ່ 50,000 ກີບ, ກົດ ສ້າງ QR] ແມ່ຄ້າໃສ່ລາຄາເປັນກີບ ຫຼື ເລືອກສິນຄ້າ. QR ດຽວ ຮັບໄດ້ທຸກແອັບ.
[ໃຫ້ສະມາຊິກສະແກນ QR ດ້ວຍກ້ອງໂທລະສັບ] ໜ້າຈ່າຍເງິນເປີດເປັນພາສາຂອງນັກທ່ອງທ່ຽວ, ລາຄາເປັນກີບ. ກົດຈ່າຍ...
[ສຽງ] ໂທລະສັບແມ່ຄ້າດັງ ແລະ ບອກ 'ໄດ້ຮັບເງິນ 50,000 ກີບ'. ເງິນເຂົ້າບັນຊີ BCEL ຂອງແມ່ຄ້າ."
(ຊ້ອມຫຼາຍຮອບ! ກຽມວິດີໂອບັນທຶກໜ້າຈໍໄວ້ສຳຮອງ ຖ້າອິນເຕີເນັດບໍ່ດີ)
ແອັບແມ່ຄ້າ: https://phalom.phalom-payment.workers.dev (ກົດ "ລອງໃຊ້ຮ້ານຕົວຢ່າງ")
ແອັບນັກທ່ອງທ່ຽວ (ສາທິດການຈ່າຍ): https://phalom-tourist.phalom-payment.workers.dev
ຖ້າບໍ່ມີໂທລະສັບອີກເຄື່ອງ: ໃນໜ້າ QR ກົດ "ທົດລອງຈ່າຍ" ເພື່ອເປີດໜ້າຈ່າຍຂອງນັກທ່ອງທ່ຽວ.
ສຽງ: ແອັບ Android ອ່ານເປັນພາສາລາວ (ຫຼື ໄທ ຖ້າເຄື່ອງບໍ່ມີສຽງລາວ). ເປີດລຳໂພງ ແລະ ທົດສອບກ່ອນຂຶ້ນເວທີ.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[0:25] ເສັ້ນທາງຜູ້ໃຊ້ — ກ່ອນ/ຫຼັງ
"ສຳລັບແມ່ຄ້າ — ກ່ອນ: ລູກຄ້າບໍ່ມີກີບກໍ່ຍ່າງໜີ, ຕ້ອງຄິດອັດຕາເອງ, ບໍ່ແນ່ໃຈວ່າເງິນເຂົ້າແທ້. ຫຼັງ: ລູກຄ້າສະແກນໄດ້ທັນທີ, ໄດ້ເງິນກີບເຂົ້າບັນຊີ, ໄດ້ຍິນສຽງຢືນຢັນ — ແລະ ມີລູກຄ້າໃໝ່ມາຈາກແຜນທີ່."
(ຖ້າເວລາເກີນ ໃຫ້ຂ້າມສະໄລດ໌ນີ້ ຫຼື ລວມເຂົ້າກັບການສາທິດ)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ຮູບແບບທຸລະກິດ
"ພວກເຮົາຫາລາຍໄດ້ແນວໃດ? ທຸກທຸລະກຳ ທະນາຄານ ຫຼື payment gateway ເກັບຄ່າທຳນຽມນ້ອຍໆຢູ່ແລ້ວ. ພວກເຮົາພາຮ້ານຄ້າໃໝ່ມາໃຫ້ — ຈຶ່ງເຈລະຈາຂໍສ່ວນແບ່ງຈາກຄ່າທຳນຽມນັ້ນ. ແມ່ຄ້າບໍ່ຈ່າຍເພີ່ມໃຫ້ພວກເຮົາ.
ທຸກຝ່າຍໄດ້ປະໂຫຍດ: ຄູ່ຮ່ວມໄດ້ຮ້ານຄ້າໃໝ່ ໂດຍບໍ່ຕ້ອງລົງທຶນລົງພື້ນທີ່; ແມ່ຄ້າໄດ້ຍອດຂາຍເພີ່ມ; ພວກເຮົາໄດ້ລາຍໄດ້ຕາມຈຳນວນຮ້ານ. ໃນອະນາຄົດ ຈະມີລາຍໄດ້ເສີມຈາກຟັງຊັນພິເສດ ແລະ ໂຄສະນາໃນແຜນທີ່ຮ້ານ."
ຕົວເລກ (ສົມມຸດຕິຖານ): 1 ຮ້ານ × 5 ທຸລະກຳ/ມື້ × ~61,500 ກີບ × 30 ມື້ ≈ 9.2 ລ້ານກີບ/ເດືອນ ຜ່ານລະບົບ. ສ່ວນແບ່ງ ~0.4% ≈ 36,000–40,000 ກີບ/ຮ້ານ/ເດືອນ.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[0:25] ແຜນງານ
"ເດືອນ 1–3: ສ້າງ MVP, ເຊັນ MOU ກັບຄູ່ຮ່ວມ, ສຳພາດ ແລະ ນຳຮ່ອງ 50 ຮ້ານໃນວຽງຈັນ.
ເດືອນ 4–6: ເພີ່ມແປເມນູ ແລະ ແຜນທີ່ຮ້ານ — ຂະຫຍາຍເປັນ 200 ຮ້ານ.
ເດືອນ 7–12: ໄປຫຼວງພະບາງ ແລະ ວັງວຽງ — ເປົ້າໝາຍ 700 ຮ້ານ."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ງົບປະມານ
"ພວກເຮົາຕ້ອງການທຶນເລີ່ມຕົ້ນ 40 ລ້ານກີບ ສຳລັບ 3 ເດືອນທຳອິດ — ສ່ວນໃຫຍ່ເປັນຄ່າລົງພື້ນທີ່ ເພາະທີມສ້າງແອັບເອງ ບໍ່ມີຄ່າພັດທະນາ.
ລາຍໄດ້ປະມານ 36,000–40,000 ກີບ ຕໍ່ຮ້ານ ຕໍ່ເດືອນ. ຈຸດຄຸ້ມທຶນຢູ່ທີ່ປະມານ 650–770 ຮ້ານ — ເຊິ່ງເຮົາຄາດວ່າຈະຮອດໃນເດືອນທີ 12–13. ປີທຳອິດຕ້ອງການທຶນລວມປະມານ 100 ລ້ານກີບ.
ຕົວເລກເຫຼົ່ານີ້ເປັນການຄາດຄະເນ — ພວກເຮົາຈະຢືນຢັນຄ່າທຳນຽມ ແລະ ຍອດຂາຍຈິງ ໃນເດືອນທຳອິດຂອງການນຳຮ່ອງ."
(ການບອກຕາມຈິງວ່າເປັນການຄາດຄະເນ ສ້າງຄວາມເຊື່ອຖື)
ການແບ່ງງົບ 40 ລ້ານກີບ ເປັນຂໍ້ສະເໜີຂອງທີມ (ປັບໄດ້): ຕົວແທນລົງພື້ນທີ່ 18, ຄ່າເດີນທາງ 6, ປ້າຍ QR ແລະ ສະແຕນ 5, ການຕະຫຼາດກັບໂຮງແຮມ/ທົວ 4, server/SMS/ໂດເມນ 3, ສຳຮອງ 4.
ຈຸດຄຸ້ມທຶນ: ຄ່າໃຊ້ຈ່າຍປະຈຳເດືອນ ~26–28 ລ້ານກີບ ÷ 36,000–40,000 ກີບ/ຮ້ານ ≈ 650–770 ຮ້ານ. 40 ລ້ານກີບ ≈ 1,780 USD; 100 ລ້ານກີບ ≈ 4,450 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ຄວາມສ່ຽງ + SWOT
"ຄວາມສ່ຽງສູງສຸດ 2 ຢ່າງ:
ໜຶ່ງ — ຄູ່ຮ່ວມບໍ່ຮ່ວມມື: ພວກເຮົາມີຫຼາຍທາງເລືອກ — ທະນາຄານສະມາຊິກ LAPNet ຫຼາຍແຫ່ງ ແລະ PhaJay — ບໍ່ຂຶ້ນກັບແຫ່ງດຽວ.
ສອງ — ແມ່ຄ້າບໍ່ຍອມປ່ຽນ: ພວກເຮົາບໍ່ເກັບຄ່າບໍລິການຈາກແມ່ຄ້າ ແລະ ຈະສະແດງຍອດຂາຍທີ່ເພີ່ມຂຶ້ນຈິງ.
ຄວາມສ່ຽງອື່ນ ເຊັ່ນ ຖ້າ Alipay ຕ້ອງໃຊ້ QR ແຍກ — ພວກເຮົາລວມໄວ້ໃນປ້າຍດຽວ ແລະ ໃຫ້ແອັບເລືອກໃຫ້ອັດຕະໂນມັດ.
ຈຸດແຂງຂອງພວກເຮົາ: ໃຊ້ເສັ້ນທາງທີ່ມີແລ້ວ, ຕົ້ນທຶນຕ່ຳ, ແລະ ເຄືອຂ່າຍແມ່ຄ້າ — ສິ່ງທີ່ລອກຍາກທີ່ສຸດ."
ໝາຍເຫດ: Alipay/WeChat Pay ໃນລາວ ໃຊ້ຜ່ານ BCEL–Wallyt ຫຼື PhaJay ເຊິ່ງແຍກຈາກເສັ້ນທາງ LAPNet–UnionPay. ເປົ້າ 2026–2030: 22 ລ້ານ ນັກທ່ອງທ່ຽວຕ່າງປະເທດ (Laotian Times, 01/2026).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ຜົນກະທົບ
"ເປົ້າໝາຍປີທຳອິດ: 700 ຮ້ານ, ຢ່າງໜ້ອຍ 70% ຍັງໃຊ້ຫຼັງ 3 ເດືອນ, ແລະ 5 ທຸລະກຳຕ່າງປະເທດ ຕໍ່ຮ້ານ ຕໍ່ມື້.
ຜົນກະທົບຫຼາຍກວ່າເງິນ: ແມ່ຄ້າຂາຍທາງ ທີ່ສ່ວນຫຼາຍເປັນແມ່ຍິງ — ຈະມີປະຫວັດທຸລະກຳດິຈິຕອລ ເພື່ອເຂົ້າເຖິງສິນເຊື່ອ. ສ້າງວຽກໃຫ້ຊາວໜຸ່ມເປັນຕົວແທນລົງພື້ນທີ່. ແລະ ເງິນຕາຕ່າງປະເທດໄຫຼເຂົ້າລະບົບທະນາຄານ ແທນທີ່ຈະໝູນວຽນເປັນເງິນສົດ.
ໃນອະນາຄົດ ຂະຫຍາຍໄປ ລົດຕຸກຕຸກ, ເຮືອນພັກ, ສະຖານີລົດໄຟລາວ-ຈີນ — ແລະ ນັກທ່ອງທ່ຽວເກົາຫຼີ."
ຂໍ້ມູນ: ນັກທ່ອງທ່ຽວເກົາຫຼີ 182,709 ຄົນ ປີ 2025 (KPL). 5 ທຸລະກຳ/ມື້ × ~61,500 ກີບ ≈ 9.2 ລ້ານກີບ/ເດືອນ ຍອດຂາຍຕ່າງປະເທດເພີ່ມຕໍ່ຮ້ານ (ສົມມຸດຕິຖານ).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ສະຫຼຸບ
"ສະຫຼຸບ: ເສັ້ນທາງເງິນມີແລ້ວ — ພວກເຮົາພາແມ່ຄ້ານ້ອຍໄປເຖິງ.
ເພື່ອໃຫ້ເກີດຂຶ້ນຈິງ ພວກເຮົາຕ້ອງການ: ການແນະນຳຕໍ່ທະນາຄານ ແລະ PhaJay, ທຶນນຳຮ່ອງ, ແລະ ການຮ່ວມມືຈາກຄະນະຕະຫຼາດ ແລະ ພະແນກທ່ອງທ່ຽວ.
ນັກທ່ອງທ່ຽວຈ່າຍແບບບ້ານເຂົາ — ແມ່ຄ້າຮັບເງິນກີບແບບບ້ານເຮົາ.
ຂອບໃຈ — ພວກເຮົາພ້ອມຕອບຄຳຖາມ."
(ປິດດ້ວຍຄຳຂວັນດຽວກັບຕອນເປີດ)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ສະໄລດ໌ສຳຮອງ ສຳລັບຊ່ວງ Q&amp;A. ຂໍ້ມູນເສີມ:
- LOCA Pay ເກັບ 3% + 5,000 ກີບ ຕໍ່ຄັ້ງ ຈາກນັກທ່ອງທ່ຽວ (loca.la/locapay).
- ເສັ້ນທາງ QR ຂ້າມແດນ: ໄທ 07/2024, ຈີນ (UnionPay–LAPNet) 12/2024, ຫວຽດນາມ 01/2025.
- 3.5 ລ້ານ USD = 700 ຮ້ານ × 5 ທຸລະກຳ × 365 ມື້ × ~61,500 ກີບ.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ລາຍການແຫຼ່ງຂໍ້ມູນທີ່ໃຊ້ໃນ deck. ກວດສອບເມື່ອ 14/10/2026.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B6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19C"/>
                </a:solidFill>
              </a:rPr>
              <a:t>ທີມ Phalom · ໂຈດທີ 10 ຮັບເງິນຕ່າງປະເທດ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hyperlink" Target="https://phalom.phalom-payment.workers.dev" TargetMode="External"/><Relationship Id="rId9" Type="http://schemas.openxmlformats.org/officeDocument/2006/relationships/hyperlink" Target="https://phalom-tourist.phalom-payment.workers.dev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8" Type="http://schemas.openxmlformats.org/officeDocument/2006/relationships/image" Target="../media/image-8-7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822960"/>
            <a:ext cx="3291840" cy="3291840"/>
          </a:xfrm>
          <a:prstGeom prst="diamond">
            <a:avLst/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052560" y="1463040"/>
            <a:ext cx="2011680" cy="2011680"/>
          </a:xfrm>
          <a:prstGeom prst="diamond">
            <a:avLst/>
          </a:prstGeom>
          <a:solidFill>
            <a:srgbClr val="33438F"/>
          </a:solidFill>
          <a:ln w="12700">
            <a:solidFill>
              <a:srgbClr val="3343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55480" y="1965960"/>
            <a:ext cx="1005840" cy="1005840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ໂຈດທີ 10 · ຮັບເງິນຕ່າງປະເທດຍຸ້ງຍາກ (Cross-Border Payment ສຳລັບຮ້ານຄ້າ)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Phalom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2F7"/>
                </a:solidFill>
              </a:rPr>
              <a:t>ແອັບຊ່ວຍແມ່ຄ້ານ້ອຍ ຮັບເງິນຈາກນັກທ່ອງທ່ຽວຕ່າງປະເທດ ເປັນເງິນກີບ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7498080" cy="1143000"/>
          </a:xfrm>
          <a:prstGeom prst="roundRect">
            <a:avLst>
              <a:gd name="adj" fmla="val 9600"/>
            </a:avLst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5021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ນັກທ່ອງທ່ຽວຈ່າຍແບບບ້ານເຂົາ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0C060"/>
                </a:solidFill>
              </a:rPr>
              <a:t>ແມ່ຄ້າຮັບເງິນກີບແບບບ້ານເຮົາ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74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ທີມ Phalom (ພັດລົມ) · [ມະຫາວິທະຍາໄລ / ຄະນະ / ສາຂາວິຊາ]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[ຊື່ ແລະ ນາມສະກຸນ ສະມາຊິກ 1] · [ສະມາຊິກ 2] · [ສະມາຊິກ 3]</a:t>
            </a:r>
            <a:endParaRPr lang="en-US" sz="1400" dirty="0"/>
          </a:p>
        </p:txBody>
      </p:sp>
      <p:pic>
        <p:nvPicPr>
          <p:cNvPr id="12" name="Image 0" descr="/tmp/claude-0/-home-user-phalom3/46955e7c-d9fd-5ba8-90fc-e50896c85cd6/scratchpad/deck/shots/3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3246120"/>
            <a:ext cx="147885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ນັກທ່ອງທ່ຽວຢາກຊື້ ແຕ່ຈ່າຍບໍ່ໄດ້ ແມ່ຄ້າຈຶ່ງເສຍຍອດຂາຍ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4846320" cy="4526280"/>
          </a:xfrm>
          <a:prstGeom prst="roundRect">
            <a:avLst>
              <a:gd name="adj" fmla="val 3030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B6B"/>
                </a:solidFill>
              </a:rPr>
              <a:t>ເລື່ອງທີ່ເກີດທຸກຄືນ ທີ່ຕະຫຼາດມືດ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8680" y="2148840"/>
            <a:ext cx="502920" cy="50292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1</a:t>
            </a:r>
            <a:endParaRPr lang="en-US" sz="121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305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A33"/>
                </a:solidFill>
              </a:rPr>
              <a:t>ນັກທ່ອງທ່ຽວຈີນເຫັນຜ້າທໍທີ່ມັກ ຢາກຊື້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017520"/>
            <a:ext cx="502920" cy="50292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2</a:t>
            </a:r>
            <a:endParaRPr lang="en-US" sz="121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9992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A33"/>
                </a:solidFill>
              </a:rPr>
              <a:t>ບໍ່ມີເງິນກີບ ມີແຕ່ Alipay ໃນມືຖື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502920" cy="50292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3</a:t>
            </a:r>
            <a:endParaRPr lang="en-US" sz="121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8679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A33"/>
                </a:solidFill>
              </a:rPr>
              <a:t>ແມ່ຄ້າຮັບໄດ້ແຕ່ເງິນສົດ ຫຼື QR ບັນຊີສ່ວນຕົວ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4754880"/>
            <a:ext cx="502920" cy="502920"/>
          </a:xfrm>
          <a:prstGeom prst="diamond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4</a:t>
            </a:r>
            <a:endParaRPr lang="en-US" sz="121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47365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372F"/>
                </a:solidFill>
              </a:rPr>
              <a:t>ລູກຄ້າຍ່າງໜີ ແມ່ຄ້າເສຍຍອດຂາຍ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1325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B6B"/>
                </a:solidFill>
              </a:rPr>
              <a:t>4.58 ລ້ານ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70"/>
                </a:solidFill>
              </a:rPr>
              <a:t>ນັກທ່ອງທ່ຽວຕ່າງປະເທດ ປີ 2025 (+11%)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1325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9A1E"/>
                </a:solidFill>
              </a:rPr>
              <a:t>82%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70"/>
                </a:solidFill>
              </a:rPr>
              <a:t>ມາຈາກ ໄທ, ຈີນ, ຫວຽດນາມ ທີ່ຈ່າຍດ້ວຍ QR ເປັນປົກກະຕິ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669280" y="2788920"/>
          <a:ext cx="59893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ແຫຼ່ງ: ກະຊວງຖະແຫຼງຂ່າວ ວັດທະນະທຳ ແລະ ທ່ອງທ່ຽວ ຜ່ານ KPL (kpl.gov.la, ມັງກອນ 2026): ລວມ 4,580,709 ຄົນ; ໄທ 1,484,319 · ຈີນ 1,157,278 · ຫວຽດນາມ 1,129,109 · ເກົາຫຼີ 182,709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ເສັ້ນທາງເງິນມີແລ້ວ ແຕ່ຂາດ 'ໄມລ໌ສຸດທ້າຍ' ໄປຫາແມ່ຄ້ານ້ອຍ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ແມ່ຄ້າເສຍຍອດຂາຍ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697480" y="13258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ເພາະນັກທ່ອງທ່ຽວຈ່າຍດ້ວຍແອັບຂອງຕົນບໍ່ໄດ້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2194560"/>
            <a:ext cx="6446520" cy="713232"/>
          </a:xfrm>
          <a:prstGeom prst="roundRect">
            <a:avLst>
              <a:gd name="adj" fmla="val 1282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1945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ເປັນຫຍັງ?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QR ຂອງແມ່ຄ້າເປັນບັນຊີສ່ວນຕົວ ບໍ່ໄດ້ສະໝັກຮັບເງິນຕ່າງປະເທດ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05840" y="3063240"/>
            <a:ext cx="6217920" cy="713232"/>
          </a:xfrm>
          <a:prstGeom prst="roundRect">
            <a:avLst>
              <a:gd name="adj" fmla="val 1282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30632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ເປັນຫຍັງບໍ່ສະໝັກ?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0632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ຊ່ອງທາງແຍກກັນ ຂໍ້ມູນຫາຍາກ: ຖາມທະນາຄານ 4 ແຫ່ງ, 2 ບໍ່ຕອບ, 2 ໃຫ້ໄປສາຂາ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34440" y="3931920"/>
            <a:ext cx="5989320" cy="713232"/>
          </a:xfrm>
          <a:prstGeom prst="roundRect">
            <a:avLst>
              <a:gd name="adj" fmla="val 1282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17320" y="39319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ເປັນຫຍັງບໍ່ມີໃຜຊ່ວຍ?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9319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ລົງສອນແມ່ຄ້າທີລະຄົນ ບໍ່ຄຸ້ມທຶນສຳລັບທະນາຄານ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463040" y="4846320"/>
            <a:ext cx="5760720" cy="960120"/>
          </a:xfrm>
          <a:prstGeom prst="roundRect">
            <a:avLst>
              <a:gd name="adj" fmla="val 9524"/>
            </a:avLst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91640" y="48463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ຕົ້ນເຫດແທ້: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ບໍ່ແມ່ນເທັກໂນໂລຊີ. ເສັ້ນທາງເງິນມີແລ້ວ ແຕ່ຂາດຄົນພາແມ່ຄ້ານ້ອຍໄປເຖິງ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35240" y="1325880"/>
            <a:ext cx="4005072" cy="4480560"/>
          </a:xfrm>
          <a:prstGeom prst="roundRect">
            <a:avLst>
              <a:gd name="adj" fmla="val 3425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ເສັ້ນທາງ QR ຂ້າມແດນ ທີ່ເປີດແລ້ວ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63840" y="20116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2E4DB8"/>
          </a:solidFill>
          <a:ln w="12700">
            <a:solidFill>
              <a:srgbClr val="2E4D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20116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ໄທ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070"/>
                </a:solidFill>
              </a:rPr>
              <a:t>07/2024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ສະແກນ LAO QR ດ້ວຍແອັບ Krungsri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863840" y="29260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C4433A"/>
          </a:solidFill>
          <a:ln w="12700">
            <a:solidFill>
              <a:srgbClr val="C443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0" y="29260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ຈີນ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2926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070"/>
                </a:solidFill>
              </a:rPr>
              <a:t>12/2024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3291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UnionPay ເຊື່ອມ LAPNet (8 ທະນາຄານ)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863840" y="38404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1F8A6B"/>
          </a:solidFill>
          <a:ln w="12700">
            <a:solidFill>
              <a:srgbClr val="1F8A6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0" y="3840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ຫວຽດ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732520" y="3840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070"/>
                </a:solidFill>
              </a:rPr>
              <a:t>01/2025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863840" y="4206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ສະແກນ QR ໃນລາວ (14 ທະນາຄານລາວ)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863840" y="47548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C4433A"/>
          </a:solidFill>
          <a:ln w="12700">
            <a:solidFill>
              <a:srgbClr val="C443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0" y="47548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ຈີນ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732520" y="4754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070"/>
                </a:solidFill>
              </a:rPr>
              <a:t>2019+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5120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Alipay, WeChat Pay ຜ່ານ BCEL ແລະ PhaJay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ແຫຼ່ງ: Bank of Thailand (03/04/2024); Tourism Laos (17/07/2024); UnionPay–LAPNet, Tourism Laos (17/01/2025); Greater Mekong / KPL (09/01/2025); BCEL–Wallyt, The Asian Banker (2019); phajay.co. ສອບຖາມທະນາຄານ: ທີມສຳຫຼວດເອງ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ຕະຫຼາດທີ່ເຂົ້າເຖິງໄດ້ ປະມານ 44 ລ້ານໂດລາຕໍ່ປີ ແລະ ກຳລັງເຕີບໂຕ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583680" cy="1261872"/>
          </a:xfrm>
          <a:prstGeom prst="roundRect">
            <a:avLst>
              <a:gd name="adj" fmla="val 8696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1,422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ລ້ານ USD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848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TAM · ນັກທ່ອງທ່ຽວຕ່າງປະເທດໃຊ້ຈ່າຍໃນລາວ ປີ 2024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19C"/>
                </a:solidFill>
              </a:rPr>
              <a:t>ຕົວເລກທາງການ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4937760" cy="1261872"/>
          </a:xfrm>
          <a:prstGeom prst="roundRect">
            <a:avLst>
              <a:gd name="adj" fmla="val 8696"/>
            </a:avLst>
          </a:prstGeom>
          <a:solidFill>
            <a:srgbClr val="2E4DB8"/>
          </a:solidFill>
          <a:ln w="12700">
            <a:solidFill>
              <a:srgbClr val="2E4D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944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44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ລ້ານ USD/ປີ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SAM · ໄທ ຈີນ ຫວຽດ, 3 ເຂດທ່ອງທ່ຽວ, ຮ້ານນ້ອຍ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19C"/>
                </a:solidFill>
              </a:rPr>
              <a:t>ການຄາດຄະເນຂອງທີມ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334256"/>
            <a:ext cx="3291840" cy="1261872"/>
          </a:xfrm>
          <a:prstGeom prst="roundRect">
            <a:avLst>
              <a:gd name="adj" fmla="val 8696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4256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3.5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ລ້ານ USD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SOM · ເງິນຜ່ານລະບົບ ປີທຳອິດ (700 ຮ້ານ) = 8% ຂອງ SAM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4791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19C"/>
                </a:solidFill>
              </a:rPr>
              <a:t>ການຄາດຄະເນຂອງທີມ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66760" y="1371600"/>
            <a:ext cx="3273552" cy="1965960"/>
          </a:xfrm>
          <a:prstGeom prst="roundRect">
            <a:avLst>
              <a:gd name="adj" fmla="val 5581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1508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7A5A"/>
                </a:solidFill>
              </a:rPr>
              <a:t>+11%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70"/>
                </a:solidFill>
              </a:rPr>
              <a:t>ນັກທ່ອງທ່ຽວເພີ່ມຂຶ້ນ ປີ 2025 (4.12 ລ້ານ → 4.58 ລ້ານ ຄົນ)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66760" y="3520440"/>
            <a:ext cx="3273552" cy="2286000"/>
          </a:xfrm>
          <a:prstGeom prst="roundRect">
            <a:avLst>
              <a:gd name="adj" fmla="val 4800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ວິທີຄິດ SAM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3977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1A33"/>
                </a:solidFill>
              </a:rPr>
              <a:t>1,422 × 80.5% (ໄທ ຈີນ ຫວຽດ)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1A33"/>
                </a:solidFill>
              </a:rPr>
              <a:t>× ~55% (3 ເຂດທ່ອງທ່ຽວ)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1A33"/>
                </a:solidFill>
              </a:rPr>
              <a:t>× ~7% (ຮ້ານນ້ອຍ)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1A33"/>
                </a:solidFill>
              </a:rPr>
              <a:t>≈ 44 ລ້ານ USD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ແຫຼ່ງ: ກົມພັດທະນາການທ່ອງທ່ຽວ, Statistical Report on Tourism 2024, ຕາຕະລາງ 7 ແລະ 10 (tdd.gov.la); KPL (01/2026). 55% ແລະ 7% ເປັນສົມມຸດຕິຖານຂອງທີມ ຈະຢືນຢັນໃນການນຳຮ່ອງ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ແອັບສຳລັບແມ່ຄ້າ ທີ່ເຊື່ອມກັບເສັ້ນທາງເງິນທີ່ມີຢູ່ແລ້ວ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00200"/>
            <a:ext cx="566928" cy="566928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</a:rPr>
              <a:t>1</a:t>
            </a:r>
            <a:endParaRPr lang="en-US" sz="1364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ພາເຂົ້າລະບົບ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ລົງທະບຽນຜ່ານມືຖື ມີຕົວແທນຊ່ວຍ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ໄດ້ປ້າຍ QR ດຽວ ຮັບໄດ້ທຸກແອັບ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ເງິນເຂົ້າບັນຊີທະນາຄານຂອງແມ່ຄ້າ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01568" y="137160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0168" y="1600200"/>
            <a:ext cx="566928" cy="566928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016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</a:rPr>
              <a:t>2</a:t>
            </a:r>
            <a:endParaRPr lang="en-US" sz="1364" dirty="0"/>
          </a:p>
        </p:txBody>
      </p:sp>
      <p:sp>
        <p:nvSpPr>
          <p:cNvPr id="12" name="Text 9"/>
          <p:cNvSpPr txBox="1"/>
          <p:nvPr/>
        </p:nvSpPr>
        <p:spPr>
          <a:xfrm>
            <a:off x="3630168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ຊ່ວຍຂາຍ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30168" y="27889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ສຽງແຈ້ງເງິນເຂົ້າ ເປັນພາສາລາວ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ລາຄາເປັນກີບ ອະທິບາຍເປັນພາສາລູກຄ້າ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ແປເມນູ ແລະ ສິນຄ້າອັດຕະໂນມັດ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54496" y="137160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83096" y="1600200"/>
            <a:ext cx="566928" cy="566928"/>
          </a:xfrm>
          <a:prstGeom prst="diamond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8309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</a:rPr>
              <a:t>3</a:t>
            </a:r>
            <a:endParaRPr lang="en-US" sz="1364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ພາລູກຄ້າມາ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27889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ແຜນທີ່ຮ້ານ ຫຼາຍພາສາ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ແຈກຜ່ານໂຮງແຮມ ແລະ ທົວ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ນັກທ່ອງທ່ຽວເປີດໄດ້ ບໍ່ຕ້ອງໂຫຼດແອັບ</a:t>
            </a:r>
            <a:endParaRPr lang="en-US" sz="1400" dirty="0"/>
          </a:p>
        </p:txBody>
      </p:sp>
      <p:pic>
        <p:nvPicPr>
          <p:cNvPr id="19" name="Image 0" descr="/tmp/claude-0/-home-user-phalom3/46955e7c-d9fd-5ba8-90fc-e50896c85cd6/scratchpad/deck/shots/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325880"/>
            <a:ext cx="2091527" cy="45262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512064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5120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ນັກທ່ອງທ່ຽວບໍ່ຕ້ອງໂຫຼດແອັບໃໝ່  ·  ແມ່ຄ້າໄດ້ເງິນກີບ  ·  ທີມບໍ່ແຕະເງິນຂອງແມ່ຄ້າ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ສະແກນດ້ວຍແອັບຂອງຕົນ ເງິນກີບເຂົ້າບັນຊີແມ່ຄ້າໂດຍກົງ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572768"/>
            <a:ext cx="548640" cy="54864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1</a:t>
            </a:r>
            <a:endParaRPr lang="en-US" sz="132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ລົງທະບຽນ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ແມ່ຄ້າສະໝັກຜ່ານມືຖື ໄດ້ປ້າຍ QR ດຽວ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18104" y="2286000"/>
            <a:ext cx="201168" cy="320040"/>
          </a:xfrm>
          <a:prstGeom prst="rightArrow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64992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93592" y="1572768"/>
            <a:ext cx="548640" cy="54864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3592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2</a:t>
            </a:r>
            <a:endParaRPr lang="en-US" sz="1320" dirty="0"/>
          </a:p>
        </p:txBody>
      </p:sp>
      <p:sp>
        <p:nvSpPr>
          <p:cNvPr id="13" name="Text 10"/>
          <p:cNvSpPr txBox="1"/>
          <p:nvPr/>
        </p:nvSpPr>
        <p:spPr>
          <a:xfrm>
            <a:off x="3593592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ສະແກນ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93592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ນັກທ່ອງທ່ຽວໃຊ້ PromptPay, Alipay, VietQR ຂອງຕົນ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34456" y="2286000"/>
            <a:ext cx="201168" cy="320040"/>
          </a:xfrm>
          <a:prstGeom prst="rightArrow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81344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9944" y="1572768"/>
            <a:ext cx="548640" cy="54864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9944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3</a:t>
            </a:r>
            <a:endParaRPr lang="en-US" sz="1320" dirty="0"/>
          </a:p>
        </p:txBody>
      </p:sp>
      <p:sp>
        <p:nvSpPr>
          <p:cNvPr id="19" name="Text 16"/>
          <p:cNvSpPr txBox="1"/>
          <p:nvPr/>
        </p:nvSpPr>
        <p:spPr>
          <a:xfrm>
            <a:off x="6409944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ເງິນເຂົ້າ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09944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ຜ່ານທະນາຄານ ຫຼື PhaJay ເຂົ້າບັນຊີແມ່ຄ້າເປັນກີບ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750808" y="2286000"/>
            <a:ext cx="201168" cy="320040"/>
          </a:xfrm>
          <a:prstGeom prst="rightArrow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97696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26296" y="1572768"/>
            <a:ext cx="548640" cy="548640"/>
          </a:xfrm>
          <a:prstGeom prst="diamond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26296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4</a:t>
            </a:r>
            <a:endParaRPr lang="en-US" sz="1320" dirty="0"/>
          </a:p>
        </p:txBody>
      </p:sp>
      <p:sp>
        <p:nvSpPr>
          <p:cNvPr id="25" name="Text 22"/>
          <p:cNvSpPr txBox="1"/>
          <p:nvPr/>
        </p:nvSpPr>
        <p:spPr>
          <a:xfrm>
            <a:off x="9226296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7A5A"/>
                </a:solidFill>
              </a:rPr>
              <a:t>ໄດ້ຍິນສຽງ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226296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"ໄດ້ຮັບເງິນ 50,000 ກີບ" ຍື່ນສິນຄ້າໄດ້ທັນທີ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ເສັ້ນທາງຂອງເງິນ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2062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33"/>
                </a:solidFill>
              </a:rPr>
              <a:t>ແອັບຂອງນັກທ່ອງທ່ຽວ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46451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70"/>
                </a:solidFill>
              </a:rPr>
              <a:t>PromptPay · Alipay · WeChat · VietQR · UnionPay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886200" y="4572000"/>
            <a:ext cx="365760" cy="320040"/>
          </a:xfrm>
          <a:prstGeom prst="rightArrow">
            <a:avLst/>
          </a:prstGeom>
          <a:solidFill>
            <a:srgbClr val="7C819C"/>
          </a:solidFill>
          <a:ln w="12700">
            <a:solidFill>
              <a:srgbClr val="7C819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7680" y="42062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E8EBF7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8056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ເຄືອຂ່າຍທີ່ໄດ້ຮັບອະນຸຍາດ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0" y="46451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70"/>
                </a:solidFill>
              </a:rPr>
              <a:t>LAPNet ແລະ ທະນາຄານສະມາຊິກ · PhaJay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35240" y="4572000"/>
            <a:ext cx="365760" cy="320040"/>
          </a:xfrm>
          <a:prstGeom prst="rightArrow">
            <a:avLst/>
          </a:prstGeom>
          <a:solidFill>
            <a:srgbClr val="7C819C"/>
          </a:solidFill>
          <a:ln w="12700">
            <a:solidFill>
              <a:srgbClr val="7C819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46720" y="42062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E2F2EA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7A5A"/>
                </a:solidFill>
              </a:rPr>
              <a:t>ບັນຊີແມ່ຄ້າ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46451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70"/>
                </a:solidFill>
              </a:rPr>
              <a:t>ໄດ້ເງິນກີບ ໃນທະນາຄານຂອງຕົນ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544068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54406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A33"/>
                </a:solidFill>
              </a:rPr>
              <a:t>Phalom ຢູ່ຂ້າງທາງ ບໍ່ຢູ່ກາງທາງ: </a:t>
            </a:r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ແອັບສະແດງ QR ແລະ ປະກາດສຽງ ແຕ່ເງິນບໍ່ເຄີຍຜ່ານບັນຊີຂອງທີມ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ທະນາຄານ ແລະ PhaJay ເປັນຄູ່ຮ່ວມ ຄູ່ແຂ່ງແທ້ຄືນິໄສໃຊ້ເງິນສົດ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194560"/>
                <a:gridCol w="1828800"/>
                <a:gridCol w="18562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Phalom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B6B"/>
                          </a:solidFill>
                        </a:rPr>
                        <a:t>LOCA Pay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B6B"/>
                          </a:solidFill>
                        </a:rPr>
                        <a:t>PhaJay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B6B"/>
                          </a:solidFill>
                        </a:rPr>
                        <a:t>ທະນາຄານ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A33"/>
                          </a:solidFill>
                        </a:rPr>
                        <a:t>ນັກທ່ອງທ່ຽວຕ້ອງໂຫຼດແອັບໃໝ່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F2B6B"/>
                          </a:solidFill>
                        </a:rPr>
                        <a:t>ບໍ່ຕ້ອງ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ຕ້ອງໂຫຼດ LOCA ແລະ ຜູກບັດ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ບໍ່ຕ້ອງ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ບໍ່ຕ້ອງ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A33"/>
                          </a:solidFill>
                        </a:rPr>
                        <a:t>ຄ່າທຳນຽມເພີ່ມທີ່ນັກທ່ອງທ່ຽວຈ່າຍ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F2B6B"/>
                          </a:solidFill>
                        </a:rPr>
                        <a:t>ບໍ່ມີເພີ່ມ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3% + 5,000 ກີບ ຕໍ່ຄັ້ງ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ຕາມສັນຍາຮ້ານ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ຕາມທະນາຄານ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A33"/>
                          </a:solidFill>
                        </a:rPr>
                        <a:t>ແມ່ຄ້າຂາຍທາງ ສະໝັກເອງໄດ້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F2B6B"/>
                          </a:solidFill>
                        </a:rPr>
                        <a:t>ໄດ້ ຜ່ານມືຖື ແລະ ຕົວແທນ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ໄດ້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ຕ້ອງຂຽນໂປຣແກຣມ (API)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ຕ້ອງໄປສາຂາ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A33"/>
                          </a:solidFill>
                        </a:rPr>
                        <a:t>ຊ່ວຍຂາຍ: ສຽງລາວ, ເມນູຫຼາຍພາສາ, ແຜນທີ່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F2B6B"/>
                          </a:solidFill>
                        </a:rPr>
                        <a:t>ມີຄົບ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ບໍ່ແມ່ນຈຸດສຸມ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ບໍ່ມີ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ບໍ່ມີ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A33"/>
                          </a:solidFill>
                        </a:rPr>
                        <a:t>ບົດບາດຕໍ່ Phalom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ທາງເລືອກຂອງນັກທ່ອງທ່ຽວ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ຄູ່ຮ່ວມ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1A33"/>
                          </a:solidFill>
                        </a:rPr>
                        <a:t>ຄູ່ຮ່ວມ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0292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6B"/>
                </a:solidFill>
              </a:rPr>
              <a:t>ຕົວຢ່າງ: </a:t>
            </a:r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ຊື້ຜ້າ 100,000 ກີບ ຜ່ານ LOCA Pay ລູກຄ້າເສຍຄ່າທຳນຽມ 8,000 ກີບ. ຜ່ານປ້າຍ Phalom ລູກຄ້າຈ່າຍດ້ວຍແອັບທະນາຄານຂອງຕົນ ໂດຍບໍ່ມີຄ່າທຳນຽມຈາກ Phalom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ແຫຼ່ງ: loca.la/locapay (ຄ່າທຳນຽມ 3% + 5,000 LAK, ກວດ 10/2026); phajay.co ແລະ payment-doc.lailaolab.com (API, SDK); Bank of Thailand (03/04/2024)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ຕົ້ນແບບ: ແອັບແມ່ຄ້າ ທີ່ກົດໃຊ້ໄດ້ແທ້</a:t>
            </a:r>
            <a:endParaRPr lang="en-US" sz="2800" dirty="0"/>
          </a:p>
        </p:txBody>
      </p:sp>
      <p:pic>
        <p:nvPicPr>
          <p:cNvPr id="4" name="Image 0" descr="/tmp/claude-0/-home-user-phalom3/46955e7c-d9fd-5ba8-90fc-e50896c85cd6/scratchpad/deck/shots/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690123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5120640"/>
            <a:ext cx="2055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ຍອດຂາຍມື້ນີ້ ແບບສົດ</a:t>
            </a:r>
            <a:endParaRPr lang="en-US" sz="1300" dirty="0"/>
          </a:p>
        </p:txBody>
      </p:sp>
      <p:pic>
        <p:nvPicPr>
          <p:cNvPr id="6" name="Image 1" descr="/tmp/claude-0/-home-user-phalom3/46955e7c-d9fd-5ba8-90fc-e50896c85cd6/scratchpad/deck/shots/2-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35" y="1325880"/>
            <a:ext cx="1690123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403355" y="5120640"/>
            <a:ext cx="2055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ໃສ່ລາຄາເປັນກີບ</a:t>
            </a:r>
            <a:endParaRPr lang="en-US" sz="1300" dirty="0"/>
          </a:p>
        </p:txBody>
      </p:sp>
      <p:pic>
        <p:nvPicPr>
          <p:cNvPr id="8" name="Image 2" descr="/tmp/claude-0/-home-user-phalom3/46955e7c-d9fd-5ba8-90fc-e50896c85cd6/scratchpad/deck/shots/3-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390" y="1325880"/>
            <a:ext cx="1690123" cy="3657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349510" y="5120640"/>
            <a:ext cx="2055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QR ດຽວ ຮັບທຸກແອັບ</a:t>
            </a:r>
            <a:endParaRPr lang="en-US" sz="1300" dirty="0"/>
          </a:p>
        </p:txBody>
      </p:sp>
      <p:pic>
        <p:nvPicPr>
          <p:cNvPr id="10" name="Image 3" descr="/tmp/claude-0/-home-user-phalom3/46955e7c-d9fd-5ba8-90fc-e50896c85cd6/scratchpad/deck/shots/4-d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46" y="1325880"/>
            <a:ext cx="1690123" cy="3657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6295666" y="5120640"/>
            <a:ext cx="2055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ສຽງ "ໄດ້ຮັບເງິນ"</a:t>
            </a:r>
            <a:endParaRPr lang="en-US" sz="1300" dirty="0"/>
          </a:p>
        </p:txBody>
      </p:sp>
      <p:pic>
        <p:nvPicPr>
          <p:cNvPr id="12" name="Image 4" descr="/tmp/claude-0/-home-user-phalom3/46955e7c-d9fd-5ba8-90fc-e50896c85cd6/scratchpad/deck/shots/7-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701" y="1325880"/>
            <a:ext cx="1690123" cy="36576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8241821" y="5120640"/>
            <a:ext cx="2055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6B"/>
                </a:solidFill>
              </a:rPr>
              <a:t>ນັກທ່ອງທ່ຽວຈ່າຍງ່າຍ</a:t>
            </a:r>
            <a:endParaRPr lang="en-US" sz="1300" dirty="0"/>
          </a:p>
        </p:txBody>
      </p:sp>
      <p:pic>
        <p:nvPicPr>
          <p:cNvPr id="14" name="Image 5" descr="/tmp/claude-0/-home-user-phalom3/46955e7c-d9fd-5ba8-90fc-e50896c85cd6/scratchpad/deck/shots/demo-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1280160"/>
            <a:ext cx="1051560" cy="105156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0332720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2B6B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ແອັບແມ່ຄ້າ</a:t>
            </a:r>
            <a:endParaRPr lang="en-US" sz="1300" dirty="0"/>
          </a:p>
        </p:txBody>
      </p:sp>
      <p:pic>
        <p:nvPicPr>
          <p:cNvPr id="16" name="Image 6" descr="/tmp/claude-0/-home-user-phalom3/46955e7c-d9fd-5ba8-90fc-e50896c85cd6/scratchpad/deck/shots/tourist-q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2788920"/>
            <a:ext cx="1051560" cy="105156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0332720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2B6B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ແອັບນັກທ່ອງທ່ຽວ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10332720" y="4206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070"/>
                </a:solidFill>
              </a:rPr>
              <a:t>ແອັບຈິງ ອອນລາຍ · ການຈ່າຍເປັນການສາທິດ</a:t>
            </a:r>
            <a:endParaRPr lang="en-US" sz="1150" dirty="0"/>
          </a:p>
        </p:txBody>
      </p:sp>
      <p:sp>
        <p:nvSpPr>
          <p:cNvPr id="19" name="Text 9"/>
          <p:cNvSpPr txBox="1"/>
          <p:nvPr/>
        </p:nvSpPr>
        <p:spPr>
          <a:xfrm>
            <a:off x="548640" y="5897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ຂໍ້ມູນຍອດຂາຍ ແລະ ຊື່ຮ້ານໃນຕົ້ນແບບ ເປັນຕົວຢ່າງ. ແອັບສະແດງເງິນກີບເທົ່ານັ້ນ; ແອັບຂອງລູກຄ້າ (Alipay, WeChat Pay, PromptPay, VietQR) ເປັນຜູ້ແລກປ່ຽນເງິນ.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ຊີວິດຂອງແມ່ຄ້າ ກ່ອນ ແລະ ຫຼັງໃຊ້ Phalom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49240" cy="4434840"/>
          </a:xfrm>
          <a:prstGeom prst="roundRect">
            <a:avLst>
              <a:gd name="adj" fmla="val 3093"/>
            </a:avLst>
          </a:prstGeom>
          <a:solidFill>
            <a:srgbClr val="F8E4E2"/>
          </a:solidFill>
          <a:ln w="12700">
            <a:solidFill>
              <a:srgbClr val="F8E4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002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ກ່ອນ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377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ລູກຄ້າບໍ່ມີເງິນກີບ ກໍ່ຍ່າງໜີ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291840"/>
            <a:ext cx="384048" cy="384048"/>
          </a:xfrm>
          <a:prstGeom prst="ellipse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2004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ຕ້ອງຄິດອັດຕາແລກປ່ຽນເອງ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0233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ບໍ່ແນ່ໃຈວ່າເງິນເຂົ້າແທ້ ສ່ຽງສະລິບປອມ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8680" y="4937760"/>
            <a:ext cx="384048" cy="384048"/>
          </a:xfrm>
          <a:prstGeom prst="ellipse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8463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ຂາຍໄດ້ແຕ່ຄົນທີ່ຍ່າງຜ່ານ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7920" y="1371600"/>
            <a:ext cx="5349240" cy="4434840"/>
          </a:xfrm>
          <a:prstGeom prst="roundRect">
            <a:avLst>
              <a:gd name="adj" fmla="val 3093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16002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ຫຼັງ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537960" y="2468880"/>
            <a:ext cx="384048" cy="384048"/>
          </a:xfrm>
          <a:prstGeom prst="ellipse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37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2377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ລູກຄ້າສະແກນດ້ວຍແອັບຂອງຕົນໄດ້ທັນທີ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37960" y="3291840"/>
            <a:ext cx="384048" cy="384048"/>
          </a:xfrm>
          <a:prstGeom prst="ellipse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379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32004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ຕັ້ງລາຄາເປັນກີບ, ແອັບຂອງລູກຄ້າແລກປ່ຽນໃຫ້ເອງ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37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40233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ໄດ້ເງິນກີບເຂົ້າບັນຊີ ໄດ້ຍິນສຽງຢືນຢັນ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37960" y="4937760"/>
            <a:ext cx="384048" cy="384048"/>
          </a:xfrm>
          <a:prstGeom prst="ellipse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3796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48463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A33"/>
                </a:solidFill>
              </a:rPr>
              <a:t>ມີລູກຄ້າໃໝ່ມາຈາກແຜນທີ່ຮ້ານ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ລາຍໄດ້ມາຈາກສ່ວນແບ່ງຄ່າທຳນຽມຂອງຄູ່ຮ່ວມ ແມ່ຄ້າບໍ່ຈ່າຍເພີ່ມ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410712" cy="1188720"/>
          </a:xfrm>
          <a:prstGeom prst="roundRect">
            <a:avLst>
              <a:gd name="adj" fmla="val 923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ນັກທ່ອງທ່ຽວຈ່າຍ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47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100,000 ກີບ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05072" y="1801368"/>
            <a:ext cx="274320" cy="320040"/>
          </a:xfrm>
          <a:prstGeom prst="rightArrow">
            <a:avLst/>
          </a:prstGeom>
          <a:solidFill>
            <a:srgbClr val="7C819C"/>
          </a:solidFill>
          <a:ln w="12700">
            <a:solidFill>
              <a:srgbClr val="7C819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0" y="1371600"/>
            <a:ext cx="3410712" cy="1188720"/>
          </a:xfrm>
          <a:prstGeom prst="roundRect">
            <a:avLst>
              <a:gd name="adj" fmla="val 9231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ທະນາຄານ / PhaJay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847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ຫັກຄ່າທຳນຽມຮ້ານຄ້າ (MDR) ຕາມປົກກະຕິ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54112" y="1801368"/>
            <a:ext cx="274320" cy="320040"/>
          </a:xfrm>
          <a:prstGeom prst="rightArrow">
            <a:avLst/>
          </a:prstGeom>
          <a:solidFill>
            <a:srgbClr val="7C819C"/>
          </a:solidFill>
          <a:ln w="12700">
            <a:solidFill>
              <a:srgbClr val="7C819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1371600"/>
            <a:ext cx="3410712" cy="1188720"/>
          </a:xfrm>
          <a:prstGeom prst="roundRect">
            <a:avLst>
              <a:gd name="adj" fmla="val 9231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A5A"/>
                </a:solidFill>
              </a:rPr>
              <a:t>ແມ່ຄ້າໄດ້ຮັບ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1847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ເງິນກີບ ເຂົ້າບັນຊີ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2160" y="2651760"/>
            <a:ext cx="320040" cy="411480"/>
          </a:xfrm>
          <a:prstGeom prst="downArrow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3154680"/>
            <a:ext cx="3410712" cy="1051560"/>
          </a:xfrm>
          <a:prstGeom prst="roundRect">
            <a:avLst>
              <a:gd name="adj" fmla="val 10435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ສ່ວນແບ່ງໃຫ້ Phalom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584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~0.4% ຂອງຍອດ ≈ 36,000–40,000 ກີບ/ຮ້ານ/ເດືອນ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526280"/>
            <a:ext cx="457200" cy="45720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B6B"/>
                </a:solidFill>
              </a:rPr>
              <a:t>ຄູ່ຮ່ວມ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8646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1A33"/>
                </a:solidFill>
              </a:rPr>
              <a:t>ໄດ້ຮ້ານຄ້າໃໝ່ ໂດຍບໍ່ຕ້ອງລົງທຶນລົງພື້ນທີ່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97680" y="4526280"/>
            <a:ext cx="457200" cy="457200"/>
          </a:xfrm>
          <a:prstGeom prst="diamond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3776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7A5A"/>
                </a:solidFill>
              </a:rPr>
              <a:t>ແມ່ຄ້າ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8646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1A33"/>
                </a:solidFill>
              </a:rPr>
              <a:t>ໄດ້ຍອດຂາຍເພີ່ມ ບໍ່ຈ່າຍຄ່າບໍລິການໃຫ້ Phalom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046720" y="4526280"/>
            <a:ext cx="457200" cy="457200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9A1E"/>
                </a:solidFill>
              </a:rPr>
              <a:t>Phalom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8646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1A33"/>
                </a:solidFill>
              </a:rPr>
              <a:t>ລາຍໄດ້ເພີ່ມຕາມຈຳນວນຮ້ານ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48640" y="5577840"/>
            <a:ext cx="11094415" cy="411480"/>
          </a:xfrm>
          <a:prstGeom prst="roundRect">
            <a:avLst>
              <a:gd name="adj" fmla="val 17778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55778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0"/>
                </a:solidFill>
              </a:rPr>
              <a:t>ອະນາຄົດ: ຟັງຊັນພິເສດ ແລະ ໂຄສະນາໃນແຜນທີ່ຮ້ານ · ແຜນສຳຮອງ: ຄ່າແພລດຟອມນ້ອຍໆ ຖ້າຄູ່ຮ່ວມບໍ່ແບ່ງລາຍໄດ້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ແຜນ 12 ເດືອນ: ຈາກ 50 ຮ້ານ ໃນວຽງຈັນ ເປັນ 700 ຮ້ານ ໃນ 3 ເຂດ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2926080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3652495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378909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105324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31738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58153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84568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7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10982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8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737397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63811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10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190226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11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916641" y="1371600"/>
            <a:ext cx="72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12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19C"/>
                </a:solidFill>
              </a:rPr>
              <a:t>ເດືອນ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1719072"/>
            <a:ext cx="11094415" cy="429768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ສ້າງ MVP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62656" y="1801368"/>
            <a:ext cx="2106092" cy="274320"/>
          </a:xfrm>
          <a:prstGeom prst="roundRect">
            <a:avLst>
              <a:gd name="adj" fmla="val 26667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1854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ເຊັນ MOU ກັບຄູ່ຮ່ວມ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962656" y="2231136"/>
            <a:ext cx="2106092" cy="274320"/>
          </a:xfrm>
          <a:prstGeom prst="roundRect">
            <a:avLst>
              <a:gd name="adj" fmla="val 26667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2578608"/>
            <a:ext cx="11094415" cy="429768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26151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ສຳພາດ + ນຳຮ່ອງ ວຽງຈັນ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89071" y="2660904"/>
            <a:ext cx="1379677" cy="274320"/>
          </a:xfrm>
          <a:prstGeom prst="roundRect">
            <a:avLst>
              <a:gd name="adj" fmla="val 26667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044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ແປເມນູ + ແຜນທີ່ຮ້ານ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141900" y="3090672"/>
            <a:ext cx="2106092" cy="274320"/>
          </a:xfrm>
          <a:prstGeom prst="roundRect">
            <a:avLst>
              <a:gd name="adj" fmla="val 26667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3438144"/>
            <a:ext cx="11094415" cy="429768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474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ຂະຫຍາຍ ວຽງຈັນ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141900" y="3520440"/>
            <a:ext cx="2106092" cy="274320"/>
          </a:xfrm>
          <a:prstGeom prst="roundRect">
            <a:avLst>
              <a:gd name="adj" fmla="val 26667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9044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ຫຼວງພະບາງ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321144" y="3950208"/>
            <a:ext cx="4285336" cy="274320"/>
          </a:xfrm>
          <a:prstGeom prst="roundRect">
            <a:avLst>
              <a:gd name="adj" fmla="val 26667"/>
            </a:avLst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4297680"/>
            <a:ext cx="11094415" cy="429768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4334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A33"/>
                </a:solidFill>
              </a:rPr>
              <a:t>ວັງວຽງ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047558" y="4379976"/>
            <a:ext cx="3558921" cy="274320"/>
          </a:xfrm>
          <a:prstGeom prst="roundRect">
            <a:avLst>
              <a:gd name="adj" fmla="val 26667"/>
            </a:avLst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59237" y="4846320"/>
            <a:ext cx="365760" cy="365760"/>
          </a:xfrm>
          <a:prstGeom prst="diamond">
            <a:avLst/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19157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B6B"/>
                </a:solidFill>
              </a:rPr>
              <a:t>50 ຮ້ານ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738480" y="4846320"/>
            <a:ext cx="365760" cy="365760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98400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9A1E"/>
                </a:solidFill>
              </a:rPr>
              <a:t>200 ຮ້ານ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1096968" y="4846320"/>
            <a:ext cx="365760" cy="365760"/>
          </a:xfrm>
          <a:prstGeom prst="diamond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456888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A5A"/>
                </a:solidFill>
              </a:rPr>
              <a:t>700 ຮ້ານ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070"/>
                </a:solidFill>
              </a:rPr>
              <a:t>ເປົ້າໝາຍຈຳນວນຮ້ານ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80644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ນຳຮ່ອງ: ໃຊ້ເດືອນທຳອິດຢືນຢັນຄ່າທຳນຽມ, ຍອດຂາຍຕໍ່ຮ້ານ ແລະ ຈຳນວນທຸລະກຳຕ່າງປະເທດຕໍ່ມື້ ກ່ອນຂະຫຍາຍ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ທຶນເລີ່ມຕົ້ນ 40 ລ້ານກີບ ຄຸ້ມທຶນທີ່ປະມານ 650–770 ຮ້ານ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178040" y="1371600"/>
            <a:ext cx="4462272" cy="1188720"/>
          </a:xfrm>
          <a:prstGeom prst="roundRect">
            <a:avLst>
              <a:gd name="adj" fmla="val 923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06640" y="1463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B6B"/>
                </a:solidFill>
              </a:rPr>
              <a:t>36–40 ພັນ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4066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070"/>
                </a:solidFill>
              </a:rPr>
              <a:t>ກີບ ລາຍໄດ້ຕໍ່ຮ້ານ ຕໍ່ເດືອນ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178040" y="2743200"/>
            <a:ext cx="4462272" cy="1188720"/>
          </a:xfrm>
          <a:prstGeom prst="roundRect">
            <a:avLst>
              <a:gd name="adj" fmla="val 923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2834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5A"/>
                </a:solidFill>
              </a:rPr>
              <a:t>650–770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070"/>
                </a:solidFill>
              </a:rPr>
              <a:t>ຮ້ານ ຈຸດຄຸ້ມທຶນ (ເດືອນທີ 12–13)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178040" y="4114800"/>
            <a:ext cx="4462272" cy="1188720"/>
          </a:xfrm>
          <a:prstGeom prst="roundRect">
            <a:avLst>
              <a:gd name="adj" fmla="val 9231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4206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1E"/>
                </a:solidFill>
              </a:rPr>
              <a:t>~100 ລ້ານ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4800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070"/>
                </a:solidFill>
              </a:rPr>
              <a:t>ກີບ ທຶນລວມປີທຳອິດ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548640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19C"/>
                </a:solidFill>
              </a:rPr>
              <a:t>ທີມສ້າງແອັບເອງ ບໍ່ມີຄ່າພັດທະນາ. ຕົວເລກທັງໝົດເປັນການຄາດຄະເນ ຈະຢືນຢັນໃນເດືອນທຳອິດຂອງການນຳຮ່ອງ.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ຄວາມສ່ຽງມີທາງອອກ ຈຸດແຂງຄືເຄືອຂ່າຍແມ່ຄ້າ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ຄວາມສ່ຽງ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ລະດັບ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ວິທີຮັບມື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1A33"/>
                          </a:solidFill>
                        </a:rPr>
                        <a:t>ຄູ່ຮ່ວມບໍ່ຮ່ວມມື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5372F"/>
                          </a:solidFill>
                        </a:rPr>
                        <a:t>ສູງ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ທະນາຄານສະມາຊິກ LAPNet ຫຼາຍແຫ່ງ ແລະ PhaJay ບໍ່ຂຶ້ນກັບແຫ່ງດຽວ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1A33"/>
                          </a:solidFill>
                        </a:rPr>
                        <a:t>ແມ່ຄ້າບໍ່ຍອມປ່ຽນ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5372F"/>
                          </a:solidFill>
                        </a:rPr>
                        <a:t>ສູງ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ບໍ່ເກັບຄ່າບໍລິການ ສະແດງຍອດຂາຍທີ່ເພີ່ມຂຶ້ນຈິງ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1A33"/>
                          </a:solidFill>
                        </a:rPr>
                        <a:t>Alipay ຕ້ອງໃຊ້ QR ແຍກ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9A1E"/>
                          </a:solidFill>
                        </a:rPr>
                        <a:t>ກາງ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ລວມໄວ້ໃນປ້າຍດຽວ ແອັບເລືອກໃຫ້ອັດຕະໂນມັດ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A5A"/>
                </a:solidFill>
              </a:rPr>
              <a:t>S ຈຸດແຂງ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190195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ໃຊ້ເສັ້ນທາງເງິນທີ່ມີແລ້ວ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ຕົ້ນທຶນຕ່ຳ ທີມສ້າງແອັບເອງ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ເຄືອຂ່າຍແມ່ຄ້າ ລອກຍາກ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905256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8E4E2"/>
          </a:solidFill>
          <a:ln w="12700">
            <a:solidFill>
              <a:srgbClr val="F8E4E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23544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372F"/>
                </a:solidFill>
              </a:rPr>
              <a:t>W ຈຸດອ່ອນ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235440" y="190195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ທີມໃໝ່ ຍັງບໍ່ມີ MOU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ລາຍໄດ້ຕໍ່ຮ້ານນ້ອຍ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ຂຶ້ນກັບຄູ່ຮ່ວມ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0" y="36118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0" y="3721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O ໂອກາດ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414223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ນັກທ່ອງທ່ຽວ +11% ປີ 2025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QR ຂ້າມແດນ ໄທ ຈີນ ຫວຽດ ເປີດແລ້ວ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ເປົ້າລັດ 22 ລ້ານຄົນ 2026–2030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52560" y="36118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235440" y="3721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9A1E"/>
                </a:solidFill>
              </a:rPr>
              <a:t>T ໄພຂົ່ມຂູ່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414223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ທະນາຄານ ຫຼື ແອັບໃຫຍ່ເຮັດເອງ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ກົດລະບຽບປ່ຽນ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1A33"/>
                </a:solidFill>
              </a:rPr>
              <a:t>ອັດຕາແລກປ່ຽນຜັນຜວນ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ເປົ້າ 22 ລ້ານ ນັກທ່ອງທ່ຽວຕ່າງປະເທດ 2026–2030: Laotian Times (16/01/2026)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ຜົນກະທົບຫຼາຍກວ່າເງິນ: ແມ່ຄ້າມີປະຫວັດດິຈິຕອລ ຊາວໜຸ່ມມີວຽກ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44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700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2F7"/>
                </a:solidFill>
              </a:rPr>
              <a:t>ຮ້ານ ໃນປີທຳອິດ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97680" y="137160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444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70%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2F7"/>
                </a:solidFill>
              </a:rPr>
              <a:t>ຍັງໃຊ້ຫຼັງ 3 ເດືອນ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0" y="137160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F2B6B"/>
          </a:solidFill>
          <a:ln w="12700">
            <a:solidFill>
              <a:srgbClr val="1F2B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444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2F7"/>
                </a:solidFill>
              </a:rPr>
              <a:t>ທຸລະກຳຕ່າງປະເທດ ຕໍ່ຮ້ານ ຕໍ່ມື້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36392"/>
            <a:ext cx="411480" cy="411480"/>
          </a:xfrm>
          <a:prstGeom prst="diamond">
            <a:avLst/>
          </a:prstGeom>
          <a:solidFill>
            <a:srgbClr val="B5372F"/>
          </a:solidFill>
          <a:ln w="12700">
            <a:solidFill>
              <a:srgbClr val="B537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372F"/>
                </a:solidFill>
              </a:rPr>
              <a:t>ແມ່ຍິງ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1460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ແມ່ຄ້າຂາຍທາງ ທີ່ສ່ວນຫຼາຍເປັນແມ່ຍິງ ມີປະຫວັດທຸລະກຳດິຈິຕອລ ເພື່ອເຂົ້າເຖິງສິນເຊື່ອ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913632"/>
            <a:ext cx="411480" cy="411480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430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1E"/>
                </a:solidFill>
              </a:rPr>
              <a:t>ຊາວໜຸ່ມ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ສ້າງວຽກໃຫ້ຊາວໜຸ່ມເປັນຕົວແທນລົງພື້ນທີ່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690872"/>
            <a:ext cx="411480" cy="411480"/>
          </a:xfrm>
          <a:prstGeom prst="diamond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3000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5A"/>
                </a:solidFill>
              </a:rPr>
              <a:t>ເສດຖະກິດ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514600" y="4617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A33"/>
                </a:solidFill>
              </a:rPr>
              <a:t>ເງິນຕາຕ່າງປະເທດໄຫຼເຂົ້າລະບົບທະນາຄານ ແທນທີ່ຈະໝູນວຽນເປັນເງິນສົດ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18120" y="3063240"/>
            <a:ext cx="3822192" cy="2377440"/>
          </a:xfrm>
          <a:prstGeom prst="roundRect">
            <a:avLst>
              <a:gd name="adj" fmla="val 5385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B6B"/>
                </a:solidFill>
              </a:rPr>
              <a:t>ຂະຫຍາຍຕໍ່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36118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ລົດຕຸກຕຸກ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ເຮືອນພັກ (Homestay)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ສະຖານີລົດໄຟລາວ-ຈີນ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A33"/>
                </a:solidFill>
              </a:rPr>
              <a:t>ນັກທ່ອງທ່ຽວເກົາຫຼີ (182,709 ຄົນ ປີ 2025)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19C"/>
                </a:solidFill>
              </a:rPr>
              <a:t>ເປົ້າໝາຍ KPI ເປັນຂອງທີມ. ຈຳນວນນັກທ່ອງທ່ຽວເກົາຫຼີ: KPL (01/2026)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326880" y="457200"/>
            <a:ext cx="2377440" cy="2377440"/>
          </a:xfrm>
          <a:prstGeom prst="diamond">
            <a:avLst/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29800" y="960120"/>
            <a:ext cx="1371600" cy="1371600"/>
          </a:xfrm>
          <a:prstGeom prst="diamond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ສະຫຼຸບ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ເສັ້ນທາງເງິນມີແລ້ວ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ພວກເຮົາພາແມ່ຄ້ານ້ອຍໄປເຖິງ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060"/>
                </a:solidFill>
              </a:rPr>
              <a:t>ສິ່ງທີ່ພວກເຮົາຕ້ອງການ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ການແນະນຳຕໍ່ທະນາຄານ ແລະ PhaJay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32004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ທຶນນຳຮ່ອງ 40 ລ້ານກີບ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32004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2A3880"/>
          </a:solidFill>
          <a:ln w="12700">
            <a:solidFill>
              <a:srgbClr val="2A38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ການຮ່ວມມືຈາກຄະນະຕະຫຼາດ ແລະ ພະແນກທ່ອງທ່ຽວ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434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ນັກທ່ອງທ່ຽວຈ່າຍແບບບ້ານເຂົາ  </a:t>
            </a:r>
            <a:pPr indent="0" marL="0">
              <a:buNone/>
            </a:pPr>
            <a:r>
              <a:rPr lang="en-US" sz="2400" b="1" dirty="0">
                <a:solidFill>
                  <a:srgbClr val="F0C060"/>
                </a:solidFill>
              </a:rPr>
              <a:t>ແມ່ຄ້າຮັບເງິນກີບແບບບ້ານເຮົາ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57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ຂອບໃຈ · ພ້ອມຕອບຄຳຖາມ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F0"/>
                </a:solidFill>
              </a:rPr>
              <a:t>ອີເມວ: [ອີເມວທີມ] · ໂທ: [ເບີໂທ] · Facebook / WhatsApp: [ຊ່ອງທາງ]</a:t>
            </a:r>
            <a:endParaRPr lang="en-US" sz="1400" dirty="0"/>
          </a:p>
        </p:txBody>
      </p:sp>
      <p:pic>
        <p:nvPicPr>
          <p:cNvPr id="16" name="Image 0" descr="/tmp/claude-0/-home-user-phalom3/46955e7c-d9fd-5ba8-90fc-e50896c85cd6/scratchpad/deck/shots/demo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892040"/>
            <a:ext cx="1097280" cy="10972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37844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0F0"/>
                </a:solidFill>
              </a:rPr>
              <a:t>ລອງແອັບ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ສຳຮອງ: ກຽມຕອບຄຳຖາມ 8 ຂໍ້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681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ຄຳຖາມ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ຄຳຕອບສັ້ນ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ໄດ້ລົງພື້ນທີ່ບໍ?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ໃຊ້ຂໍ້ມູນທາງການ + ສອບຖາມທະນາຄານ 4 ແຫ່ງ; ການສຳພາດແມ່ຄ້າຢູ່ໃນເດືອນທຳອິດຂອງນຳຮ່ອງ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PhaJay ເຮັດແລ້ວ ເປັນຫຍັງຕ້ອງມີທ່ານ?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PhaJay ເປັນເຄື່ອງມືນັກພັດທະນາ; ເຮົາເຮັດໃຫ້ມັນໄປເຖິງແມ່ຄ້າທີ່ຂຽນໂປຣແກຣມບໍ່ເປັນ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ທະນາຄານບໍ່ເຮັດເອງບໍ?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ການລົງຫາແມ່ຄ້າທີລະຄົນບໍ່ຄຸ້ມທຶນສຳລັບທະນາຄານ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ຖືກກົດໝາຍບໍ?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ເງິນຜ່ານທະນາຄານ/gateway ທີ່ໄດ້ຮັບອະນຸຍາດ; ທີມບໍ່ຖືເງິນ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ຕົວເລກມາຈາກໃສ?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TAM ຈາກລາຍງານທາງການ; ຄ່າທຳນຽມ ແລະ ຍອດຂາຍເປັນສົມມຸດຕິຖານ ຈະຢືນຢັນໃນນຳຮ່ອງ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3.5 ລ້ານໂດລາ ແມ່ນລາຍໄດ້ທີມບໍ?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ບໍ່. ເປັນຍອດເງິນຜ່ານລະບົບ; ລາຍໄດ້ທີມແມ່ນສ່ວນແບ່ງຄ່າທຳນຽມ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ຖ້າຄູ່ຮ່ວມບໍ່ແບ່ງລາຍໄດ້?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ແຜນສຳຮອງ: ຄ່າແພລດຟອມນ້ອຍໆ ຫຼື ຄ່າຟັງຊັນພິເສດ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B6B"/>
                          </a:solidFill>
                        </a:rPr>
                        <a:t>ເງິນເດືອນທີມລວມບໍ?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A33"/>
                          </a:solidFill>
                        </a:rPr>
                        <a:t>ປີທຳອິດຍັງບໍ່ລວມ; ຕອບຕາມຈິງ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6B"/>
                </a:solidFill>
              </a:rPr>
              <a:t>ແຫຼ່ງຂໍ້ມູນ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ກົມພັດທະນາການທ່ອງທ່ຽວ, Statistical Report on Tourism 2024 (tdd.gov.la): ນັກທ່ອງທ່ຽວ 4,120,832 ຄົນ; ລາຍຮັບ 1,421,992,819 USD (ຕາຕະລາງ 7, 10)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KPL, "Laos Records Strong Tourism Growth with 4.5 Million International Visitors in 2025" (kpl.gov.la): 4,580,709 ຄົນ, +11%, ແຍກຕາມປະເທດ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Laotian Times (16/01/2026): ເກີນເປົ້າ 4.3 ລ້ານ; ເປົ້າ 2026–2030 ນັກທ່ອງທ່ຽວຕ່າງປະເທດ 22 ລ້ານຄົນ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Bank of Thailand, Joint Press Release (03/04/2024): ເຊື່ອມ QR ໄທ–ລາວ; Tourism Laos (17/07/2024): Krungsri ສະແກນ LAO QR, ທະນາຄານລາວ 17 ແຫ່ງ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Tourism Laos (17/01/2025) ແລະ Caixin (20/12/2024): UnionPay International ເຊື່ອມ LAPNet, 8 ທະນາຄານສະມາຊິກ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Greater Mekong / Internet Laos (01/2025): QR ຂ້າມແດນ ລາວ–ຫວຽດນາມ ເປີດ 9 ມັງກອນ, ທະນາຄານລາວ 14 ແຫ່ງ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The Asian Banker (14/10/2019): BCEL ຮ່ວມກັບ Wallyt ຮັບ Alipay ແລະ WeChat Pay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loca.la/locapay: ຕ້ອງໂຫຼດແອັບ LOCA ແລະ ຜູກບັດ; ຄ່າທຳນຽມ 3% + 5,000 LAK ຕໍ່ຄັ້ງ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phajay.co ແລະ payment-doc.lailaolab.com: Payment QR, Payment Link, REST API, SDK, Alipay/WeChat Pay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070"/>
                </a:solidFill>
              </a:rPr>
              <a:t>ອັດຕາແລກປ່ຽນສຳລັບຂະໜາດຕະຫຼາດ: ValutaFX (02/10/2026: 1 USD = 22,458 LAK)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alom Khram">
  <a:themeElements>
    <a:clrScheme name="Phalom Khram">
      <a:dk1>
        <a:srgbClr val="151A33"/>
      </a:dk1>
      <a:lt1>
        <a:srgbClr val="FFFFFF"/>
      </a:lt1>
      <a:dk2>
        <a:srgbClr val="1F2B6B"/>
      </a:dk2>
      <a:lt2>
        <a:srgbClr val="EEF0F6"/>
      </a:lt2>
      <a:accent1>
        <a:srgbClr val="1F2B6B"/>
      </a:accent1>
      <a:accent2>
        <a:srgbClr val="D99A1E"/>
      </a:accent2>
      <a:accent3>
        <a:srgbClr val="B5372F"/>
      </a:accent3>
      <a:accent4>
        <a:srgbClr val="1E7A5A"/>
      </a:accent4>
      <a:accent5>
        <a:srgbClr val="2E4DB8"/>
      </a:accent5>
      <a:accent6>
        <a:srgbClr val="7A4FB5"/>
      </a:accent6>
      <a:hlink>
        <a:srgbClr val="2E4DB8"/>
      </a:hlink>
      <a:folHlink>
        <a:srgbClr val="7A4FB5"/>
      </a:folHlink>
    </a:clrScheme>
    <a:fontScheme name="Phalom Khram">
      <a:majorFont>
        <a:latin typeface="Noto Sans Lao"/>
        <a:ea typeface=""/>
        <a:cs typeface="Noto Sans Lao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Lao"/>
        <a:ea typeface=""/>
        <a:cs typeface="Noto Sans La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Phalom - Cross-Border Payment for Small Vendors</dc:title>
  <dc:subject>PptxGenJS Presentation</dc:subject>
  <dc:creator>Team Phalom</dc:creator>
  <cp:lastModifiedBy>Team Phalom</cp:lastModifiedBy>
  <cp:revision>1</cp:revision>
  <dcterms:created xsi:type="dcterms:W3CDTF">2026-10-14T21:10:52Z</dcterms:created>
  <dcterms:modified xsi:type="dcterms:W3CDTF">2026-10-14T21:10:52Z</dcterms:modified>
</cp:coreProperties>
</file>